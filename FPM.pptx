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6"/>
  </p:notesMasterIdLst>
  <p:sldIdLst>
    <p:sldId id="282" r:id="rId2"/>
    <p:sldId id="283" r:id="rId3"/>
    <p:sldId id="284" r:id="rId4"/>
    <p:sldId id="293" r:id="rId5"/>
    <p:sldId id="294" r:id="rId6"/>
    <p:sldId id="295" r:id="rId7"/>
    <p:sldId id="296" r:id="rId8"/>
    <p:sldId id="286" r:id="rId9"/>
    <p:sldId id="287" r:id="rId10"/>
    <p:sldId id="297" r:id="rId11"/>
    <p:sldId id="289" r:id="rId12"/>
    <p:sldId id="299" r:id="rId13"/>
    <p:sldId id="301" r:id="rId14"/>
    <p:sldId id="29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931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88C78F-4BB1-46BE-95B1-BF506A03B8DF}" type="datetimeFigureOut">
              <a:rPr lang="es-ES" smtClean="0"/>
              <a:t>12/09/2026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44893-263F-444A-857A-DD77211F12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79980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B44893-263F-444A-857A-DD77211F12F2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66670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B44893-263F-444A-857A-DD77211F12F2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4351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AEBF0EB4-F14C-4E33-9706-7C4CF19A3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76424" y="1122364"/>
            <a:ext cx="8791575" cy="1496146"/>
          </a:xfrm>
        </p:spPr>
        <p:txBody>
          <a:bodyPr/>
          <a:lstStyle/>
          <a:p>
            <a:pPr algn="ctr"/>
            <a:r>
              <a:rPr lang="es-ES" dirty="0" err="1"/>
              <a:t>Production</a:t>
            </a:r>
            <a:r>
              <a:rPr lang="es-ES" dirty="0"/>
              <a:t> Line </a:t>
            </a:r>
            <a:br>
              <a:rPr lang="es-ES" dirty="0"/>
            </a:br>
            <a:r>
              <a:rPr lang="es-ES" dirty="0"/>
              <a:t>Predictive Maintenance</a:t>
            </a:r>
            <a:endParaRPr lang="ca-ES" dirty="0"/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9CBE648C-8E94-443A-AEDB-BD9683F2F0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s-ES" dirty="0"/>
              <a:t>Albert Olivella</a:t>
            </a: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1167118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hape 2">
            <a:extLst>
              <a:ext uri="{FF2B5EF4-FFF2-40B4-BE49-F238E27FC236}">
                <a16:creationId xmlns:a16="http://schemas.microsoft.com/office/drawing/2014/main" id="{6FF43B75-5A6A-492F-A955-51ABD1B4D013}"/>
              </a:ext>
            </a:extLst>
          </p:cNvPr>
          <p:cNvSpPr/>
          <p:nvPr/>
        </p:nvSpPr>
        <p:spPr>
          <a:xfrm>
            <a:off x="1837113" y="1704109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s-ES" dirty="0" err="1">
                <a:solidFill>
                  <a:schemeClr val="bg1"/>
                </a:solidFill>
              </a:rPr>
              <a:t>Objective:</a:t>
            </a:r>
            <a:endParaRPr lang="ca-ES" dirty="0">
              <a:solidFill>
                <a:schemeClr val="bg1"/>
              </a:solidFill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66E7DD86-7604-417B-B2CB-2A7CE3363F2C}"/>
              </a:ext>
            </a:extLst>
          </p:cNvPr>
          <p:cNvSpPr/>
          <p:nvPr/>
        </p:nvSpPr>
        <p:spPr>
          <a:xfrm>
            <a:off x="6180513" y="1704109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s-ES" dirty="0">
                <a:solidFill>
                  <a:schemeClr val="bg1"/>
                </a:solidFill>
              </a:rPr>
              <a:t>Data </a:t>
            </a:r>
            <a:r>
              <a:rPr lang="es-ES" dirty="0" err="1">
                <a:solidFill>
                  <a:schemeClr val="bg1"/>
                </a:solidFill>
              </a:rPr>
              <a:t>Exploration</a:t>
            </a:r>
            <a:r>
              <a:rPr lang="es-ES" dirty="0">
                <a:solidFill>
                  <a:schemeClr val="bg1"/>
                </a:solidFill>
              </a:rPr>
              <a:t>:</a:t>
            </a:r>
            <a:endParaRPr lang="ca-ES" dirty="0">
              <a:solidFill>
                <a:schemeClr val="bg1"/>
              </a:solidFill>
            </a:endParaRPr>
          </a:p>
        </p:txBody>
      </p:sp>
      <p:sp>
        <p:nvSpPr>
          <p:cNvPr id="11" name="Shape 10">
            <a:extLst>
              <a:ext uri="{FF2B5EF4-FFF2-40B4-BE49-F238E27FC236}">
                <a16:creationId xmlns:a16="http://schemas.microsoft.com/office/drawing/2014/main" id="{F6194B81-58A1-434A-B8AF-23FC246E9BBE}"/>
              </a:ext>
            </a:extLst>
          </p:cNvPr>
          <p:cNvSpPr/>
          <p:nvPr/>
        </p:nvSpPr>
        <p:spPr>
          <a:xfrm>
            <a:off x="1837113" y="2938549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s-ES" dirty="0">
                <a:solidFill>
                  <a:schemeClr val="bg1"/>
                </a:solidFill>
              </a:rPr>
              <a:t>Data </a:t>
            </a:r>
            <a:r>
              <a:rPr lang="es-ES" dirty="0" err="1">
                <a:solidFill>
                  <a:schemeClr val="bg1"/>
                </a:solidFill>
              </a:rPr>
              <a:t>Cleanning</a:t>
            </a:r>
            <a:r>
              <a:rPr lang="es-ES" dirty="0">
                <a:solidFill>
                  <a:schemeClr val="bg1"/>
                </a:solidFill>
              </a:rPr>
              <a:t>:</a:t>
            </a:r>
            <a:endParaRPr lang="ca-ES" dirty="0">
              <a:solidFill>
                <a:schemeClr val="bg1"/>
              </a:solidFill>
            </a:endParaRPr>
          </a:p>
        </p:txBody>
      </p:sp>
      <p:sp>
        <p:nvSpPr>
          <p:cNvPr id="12" name="Shape 14">
            <a:extLst>
              <a:ext uri="{FF2B5EF4-FFF2-40B4-BE49-F238E27FC236}">
                <a16:creationId xmlns:a16="http://schemas.microsoft.com/office/drawing/2014/main" id="{20070DBF-AF85-41FD-AC7E-5AD8B3A8CAAB}"/>
              </a:ext>
            </a:extLst>
          </p:cNvPr>
          <p:cNvSpPr/>
          <p:nvPr/>
        </p:nvSpPr>
        <p:spPr>
          <a:xfrm>
            <a:off x="6180513" y="2938549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s-ES" dirty="0" err="1">
                <a:solidFill>
                  <a:schemeClr val="bg1"/>
                </a:solidFill>
              </a:rPr>
              <a:t>Feature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Engineering</a:t>
            </a:r>
            <a:r>
              <a:rPr lang="es-ES" dirty="0">
                <a:solidFill>
                  <a:schemeClr val="bg1"/>
                </a:solidFill>
              </a:rPr>
              <a:t>:</a:t>
            </a:r>
            <a:endParaRPr lang="ca-ES" dirty="0">
              <a:solidFill>
                <a:schemeClr val="bg1"/>
              </a:solidFill>
            </a:endParaRPr>
          </a:p>
        </p:txBody>
      </p:sp>
      <p:sp>
        <p:nvSpPr>
          <p:cNvPr id="13" name="Shape 18">
            <a:extLst>
              <a:ext uri="{FF2B5EF4-FFF2-40B4-BE49-F238E27FC236}">
                <a16:creationId xmlns:a16="http://schemas.microsoft.com/office/drawing/2014/main" id="{6420558B-078B-4DEB-8801-4B3703CE42FD}"/>
              </a:ext>
            </a:extLst>
          </p:cNvPr>
          <p:cNvSpPr/>
          <p:nvPr/>
        </p:nvSpPr>
        <p:spPr>
          <a:xfrm>
            <a:off x="1837113" y="4172989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s-ES" dirty="0" err="1">
                <a:solidFill>
                  <a:schemeClr val="bg1"/>
                </a:solidFill>
              </a:rPr>
              <a:t>Modelling</a:t>
            </a:r>
            <a:r>
              <a:rPr lang="es-ES" dirty="0">
                <a:solidFill>
                  <a:schemeClr val="bg1"/>
                </a:solidFill>
              </a:rPr>
              <a:t> &amp; </a:t>
            </a:r>
            <a:r>
              <a:rPr lang="es-ES" dirty="0" err="1">
                <a:solidFill>
                  <a:schemeClr val="bg1"/>
                </a:solidFill>
              </a:rPr>
              <a:t>Results</a:t>
            </a:r>
            <a:r>
              <a:rPr lang="es-ES" dirty="0">
                <a:solidFill>
                  <a:schemeClr val="bg1"/>
                </a:solidFill>
              </a:rPr>
              <a:t>:</a:t>
            </a:r>
            <a:endParaRPr lang="ca-ES" dirty="0">
              <a:solidFill>
                <a:schemeClr val="bg1"/>
              </a:solidFill>
            </a:endParaRPr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F9A5BA70-E2E1-4AB8-847B-7DF9D52EC67A}"/>
              </a:ext>
            </a:extLst>
          </p:cNvPr>
          <p:cNvSpPr/>
          <p:nvPr/>
        </p:nvSpPr>
        <p:spPr>
          <a:xfrm>
            <a:off x="1988127" y="1704109"/>
            <a:ext cx="3477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6" name="Text 3">
            <a:extLst>
              <a:ext uri="{FF2B5EF4-FFF2-40B4-BE49-F238E27FC236}">
                <a16:creationId xmlns:a16="http://schemas.microsoft.com/office/drawing/2014/main" id="{DBD643C2-F24F-468E-AF71-93F191F8B29C}"/>
              </a:ext>
            </a:extLst>
          </p:cNvPr>
          <p:cNvSpPr/>
          <p:nvPr/>
        </p:nvSpPr>
        <p:spPr>
          <a:xfrm>
            <a:off x="6321829" y="1704109"/>
            <a:ext cx="3477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26CA3381-189D-4308-A4CB-025BFEAE81B4}"/>
              </a:ext>
            </a:extLst>
          </p:cNvPr>
          <p:cNvSpPr/>
          <p:nvPr/>
        </p:nvSpPr>
        <p:spPr>
          <a:xfrm>
            <a:off x="1989512" y="2938549"/>
            <a:ext cx="3477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3">
            <a:extLst>
              <a:ext uri="{FF2B5EF4-FFF2-40B4-BE49-F238E27FC236}">
                <a16:creationId xmlns:a16="http://schemas.microsoft.com/office/drawing/2014/main" id="{EFEFE497-8AF3-40CC-AF7C-E61895A34D84}"/>
              </a:ext>
            </a:extLst>
          </p:cNvPr>
          <p:cNvSpPr/>
          <p:nvPr/>
        </p:nvSpPr>
        <p:spPr>
          <a:xfrm>
            <a:off x="6321828" y="2971800"/>
            <a:ext cx="3477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B94C77A7-840E-469E-9A2E-F6E55E45DAC4}"/>
              </a:ext>
            </a:extLst>
          </p:cNvPr>
          <p:cNvSpPr/>
          <p:nvPr/>
        </p:nvSpPr>
        <p:spPr>
          <a:xfrm>
            <a:off x="1988127" y="4172989"/>
            <a:ext cx="3477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8F9384E6-0905-450F-B193-9D4A3A13872B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3A37160-73F8-4B11-88D3-32E84DACB514}"/>
              </a:ext>
            </a:extLst>
          </p:cNvPr>
          <p:cNvSpPr/>
          <p:nvPr/>
        </p:nvSpPr>
        <p:spPr>
          <a:xfrm>
            <a:off x="4828376" y="99996"/>
            <a:ext cx="253524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Agenda:</a:t>
            </a: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F9C6381-E307-4AE0-A6AF-D5F6EFA96BDE}"/>
              </a:ext>
            </a:extLst>
          </p:cNvPr>
          <p:cNvSpPr/>
          <p:nvPr/>
        </p:nvSpPr>
        <p:spPr>
          <a:xfrm>
            <a:off x="6180513" y="4172989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s-ES" dirty="0">
                <a:solidFill>
                  <a:schemeClr val="bg1"/>
                </a:solidFill>
              </a:rPr>
              <a:t>GenAI &amp; Dashboard:</a:t>
            </a:r>
            <a:endParaRPr lang="ca-ES" dirty="0">
              <a:solidFill>
                <a:schemeClr val="bg1"/>
              </a:solidFill>
            </a:endParaRPr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93BDA572-1E75-4BFC-91C5-CA60E2A931CC}"/>
              </a:ext>
            </a:extLst>
          </p:cNvPr>
          <p:cNvSpPr/>
          <p:nvPr/>
        </p:nvSpPr>
        <p:spPr>
          <a:xfrm>
            <a:off x="6331527" y="4172989"/>
            <a:ext cx="3477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2131F18C-69F3-4516-A9C2-2679122BAADC}"/>
              </a:ext>
            </a:extLst>
          </p:cNvPr>
          <p:cNvSpPr/>
          <p:nvPr/>
        </p:nvSpPr>
        <p:spPr>
          <a:xfrm>
            <a:off x="1837113" y="5430058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s-ES" dirty="0" err="1">
                <a:solidFill>
                  <a:schemeClr val="bg1"/>
                </a:solidFill>
              </a:rPr>
              <a:t>Path</a:t>
            </a:r>
            <a:r>
              <a:rPr lang="es-ES" dirty="0">
                <a:solidFill>
                  <a:schemeClr val="bg1"/>
                </a:solidFill>
              </a:rPr>
              <a:t> </a:t>
            </a:r>
            <a:r>
              <a:rPr lang="es-ES" dirty="0" err="1">
                <a:solidFill>
                  <a:schemeClr val="bg1"/>
                </a:solidFill>
              </a:rPr>
              <a:t>to</a:t>
            </a:r>
            <a:r>
              <a:rPr lang="es-ES" dirty="0">
                <a:solidFill>
                  <a:schemeClr val="bg1"/>
                </a:solidFill>
              </a:rPr>
              <a:t> Real </a:t>
            </a:r>
            <a:r>
              <a:rPr lang="es-ES" dirty="0" err="1">
                <a:solidFill>
                  <a:schemeClr val="bg1"/>
                </a:solidFill>
              </a:rPr>
              <a:t>World</a:t>
            </a:r>
            <a:r>
              <a:rPr lang="es-ES" dirty="0">
                <a:solidFill>
                  <a:schemeClr val="bg1"/>
                </a:solidFill>
              </a:rPr>
              <a:t>:</a:t>
            </a:r>
            <a:endParaRPr lang="ca-ES" dirty="0">
              <a:solidFill>
                <a:schemeClr val="bg1"/>
              </a:solidFill>
            </a:endParaRPr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90B32A32-D40A-45D5-86CF-A3A124CE66D9}"/>
              </a:ext>
            </a:extLst>
          </p:cNvPr>
          <p:cNvSpPr/>
          <p:nvPr/>
        </p:nvSpPr>
        <p:spPr>
          <a:xfrm>
            <a:off x="1988127" y="5430058"/>
            <a:ext cx="3477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Shape 18">
            <a:extLst>
              <a:ext uri="{FF2B5EF4-FFF2-40B4-BE49-F238E27FC236}">
                <a16:creationId xmlns:a16="http://schemas.microsoft.com/office/drawing/2014/main" id="{6AD57FF7-D70D-3ACA-E2CE-B9D32FFF4EF7}"/>
              </a:ext>
            </a:extLst>
          </p:cNvPr>
          <p:cNvSpPr/>
          <p:nvPr/>
        </p:nvSpPr>
        <p:spPr>
          <a:xfrm>
            <a:off x="6180513" y="5463372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s-ES" dirty="0" err="1">
                <a:solidFill>
                  <a:schemeClr val="bg1"/>
                </a:solidFill>
              </a:rPr>
              <a:t>Challenges</a:t>
            </a:r>
            <a:r>
              <a:rPr lang="es-ES" dirty="0">
                <a:solidFill>
                  <a:schemeClr val="bg1"/>
                </a:solidFill>
              </a:rPr>
              <a:t>:</a:t>
            </a:r>
            <a:endParaRPr lang="ca-ES" dirty="0">
              <a:solidFill>
                <a:schemeClr val="bg1"/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64BCA06-CD21-843F-6CE2-353813D79487}"/>
              </a:ext>
            </a:extLst>
          </p:cNvPr>
          <p:cNvSpPr/>
          <p:nvPr/>
        </p:nvSpPr>
        <p:spPr>
          <a:xfrm>
            <a:off x="6331527" y="5463372"/>
            <a:ext cx="3477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60494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1E00118-B49C-40D5-9A2B-B960249F409A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858A2A-0C33-418C-849C-53BFDE89A632}"/>
              </a:ext>
            </a:extLst>
          </p:cNvPr>
          <p:cNvSpPr/>
          <p:nvPr/>
        </p:nvSpPr>
        <p:spPr>
          <a:xfrm>
            <a:off x="4599948" y="99996"/>
            <a:ext cx="299210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Objective</a:t>
            </a:r>
            <a:r>
              <a:rPr lang="es-E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: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18E4B1F-04F2-477A-8787-C71D49E53D58}"/>
              </a:ext>
            </a:extLst>
          </p:cNvPr>
          <p:cNvSpPr txBox="1"/>
          <p:nvPr/>
        </p:nvSpPr>
        <p:spPr>
          <a:xfrm>
            <a:off x="2563935" y="1532662"/>
            <a:ext cx="70641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Predict a Mechanical/Electrical failure 30 minutes before </a:t>
            </a:r>
            <a:r>
              <a:rPr lang="es-ES" dirty="0" err="1"/>
              <a:t>it</a:t>
            </a:r>
            <a:r>
              <a:rPr lang="es-ES" dirty="0"/>
              <a:t> </a:t>
            </a:r>
            <a:r>
              <a:rPr lang="es-ES" dirty="0" err="1"/>
              <a:t>happens</a:t>
            </a:r>
            <a:r>
              <a:rPr lang="es-ES" dirty="0"/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ES" dirty="0" err="1"/>
              <a:t>Modify</a:t>
            </a:r>
            <a:r>
              <a:rPr lang="es-ES" dirty="0"/>
              <a:t> a </a:t>
            </a:r>
            <a:r>
              <a:rPr lang="es-ES" dirty="0" err="1"/>
              <a:t>factory</a:t>
            </a:r>
            <a:r>
              <a:rPr lang="es-ES" dirty="0"/>
              <a:t> </a:t>
            </a:r>
            <a:r>
              <a:rPr lang="es-ES" dirty="0" err="1"/>
              <a:t>simulator</a:t>
            </a:r>
            <a:r>
              <a:rPr lang="es-ES" dirty="0"/>
              <a:t> and </a:t>
            </a:r>
            <a:r>
              <a:rPr lang="es-ES" dirty="0" err="1"/>
              <a:t>train</a:t>
            </a:r>
            <a:r>
              <a:rPr lang="es-ES" dirty="0"/>
              <a:t> per-</a:t>
            </a:r>
            <a:r>
              <a:rPr lang="es-ES" dirty="0" err="1"/>
              <a:t>station</a:t>
            </a:r>
            <a:r>
              <a:rPr lang="es-ES" dirty="0"/>
              <a:t> ML </a:t>
            </a:r>
            <a:r>
              <a:rPr lang="es-ES" dirty="0" err="1"/>
              <a:t>models</a:t>
            </a:r>
            <a:r>
              <a:rPr lang="es-ES" dirty="0"/>
              <a:t> (</a:t>
            </a:r>
            <a:r>
              <a:rPr lang="es-ES" dirty="0" err="1"/>
              <a:t>Random</a:t>
            </a:r>
            <a:r>
              <a:rPr lang="es-ES" dirty="0"/>
              <a:t> Forest vs </a:t>
            </a:r>
            <a:r>
              <a:rPr lang="es-ES" dirty="0" err="1"/>
              <a:t>XGBoost</a:t>
            </a:r>
            <a:r>
              <a:rPr lang="es-ES" dirty="0"/>
              <a:t>).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ES" dirty="0" err="1"/>
              <a:t>Wrap the results in a GenAI-powered dashboard for real-time decision support.</a:t>
            </a: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1386E12-880E-4A87-9C58-72230817ED1D}"/>
              </a:ext>
            </a:extLst>
          </p:cNvPr>
          <p:cNvSpPr/>
          <p:nvPr/>
        </p:nvSpPr>
        <p:spPr>
          <a:xfrm>
            <a:off x="232756" y="216528"/>
            <a:ext cx="989213" cy="690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CA071068-F06B-2259-C404-30B7896A0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1976" y="3161088"/>
            <a:ext cx="2990074" cy="3596916"/>
          </a:xfrm>
          <a:prstGeom prst="rect">
            <a:avLst/>
          </a:prstGeom>
        </p:spPr>
      </p:pic>
      <p:sp>
        <p:nvSpPr>
          <p:cNvPr id="24" name="Rectángulo 23">
            <a:extLst>
              <a:ext uri="{FF2B5EF4-FFF2-40B4-BE49-F238E27FC236}">
                <a16:creationId xmlns:a16="http://schemas.microsoft.com/office/drawing/2014/main" id="{5EE0CF03-815F-0928-6522-FA9568297FFE}"/>
              </a:ext>
            </a:extLst>
          </p:cNvPr>
          <p:cNvSpPr/>
          <p:nvPr/>
        </p:nvSpPr>
        <p:spPr>
          <a:xfrm>
            <a:off x="5230179" y="3009990"/>
            <a:ext cx="414338" cy="146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ES" sz="900" dirty="0" err="1"/>
              <a:t>Robotics</a:t>
            </a:r>
            <a:endParaRPr lang="es-ES" sz="900" dirty="0"/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796EDDB6-BCB5-0EBF-2ECA-685C5016CEE7}"/>
              </a:ext>
            </a:extLst>
          </p:cNvPr>
          <p:cNvSpPr/>
          <p:nvPr/>
        </p:nvSpPr>
        <p:spPr>
          <a:xfrm>
            <a:off x="5644517" y="3817710"/>
            <a:ext cx="414338" cy="146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ES" sz="900" dirty="0"/>
              <a:t>CNC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62D27DD1-D783-0439-2AB3-376F32A71F40}"/>
              </a:ext>
            </a:extLst>
          </p:cNvPr>
          <p:cNvSpPr/>
          <p:nvPr/>
        </p:nvSpPr>
        <p:spPr>
          <a:xfrm>
            <a:off x="6093144" y="3009990"/>
            <a:ext cx="414338" cy="146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ES" sz="900" dirty="0" err="1"/>
              <a:t>Robotics</a:t>
            </a:r>
            <a:endParaRPr lang="es-ES" sz="900" dirty="0"/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C028D15A-9719-5819-FDF7-CA0ED3A52261}"/>
              </a:ext>
            </a:extLst>
          </p:cNvPr>
          <p:cNvSpPr/>
          <p:nvPr/>
        </p:nvSpPr>
        <p:spPr>
          <a:xfrm>
            <a:off x="6507481" y="3804000"/>
            <a:ext cx="455293" cy="146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ES" sz="900" dirty="0" err="1"/>
              <a:t>Assembly</a:t>
            </a:r>
            <a:endParaRPr lang="es-ES" sz="900" dirty="0"/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1908DCE6-53F2-5CC9-8BDC-34AE3E6779C0}"/>
              </a:ext>
            </a:extLst>
          </p:cNvPr>
          <p:cNvSpPr/>
          <p:nvPr/>
        </p:nvSpPr>
        <p:spPr>
          <a:xfrm>
            <a:off x="6526532" y="5014050"/>
            <a:ext cx="414338" cy="146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ES" sz="900" dirty="0" err="1"/>
              <a:t>Welding</a:t>
            </a:r>
            <a:endParaRPr lang="es-ES" sz="900" dirty="0"/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C44EA110-D76E-61E2-AC2A-2C0842D98482}"/>
              </a:ext>
            </a:extLst>
          </p:cNvPr>
          <p:cNvSpPr/>
          <p:nvPr/>
        </p:nvSpPr>
        <p:spPr>
          <a:xfrm>
            <a:off x="6112194" y="5160270"/>
            <a:ext cx="414338" cy="2986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ES" sz="900" dirty="0" err="1"/>
              <a:t>Cooling</a:t>
            </a:r>
            <a:br>
              <a:rPr lang="es-ES" sz="900" dirty="0"/>
            </a:br>
            <a:r>
              <a:rPr lang="es-ES" sz="900" dirty="0" err="1"/>
              <a:t>System</a:t>
            </a:r>
            <a:endParaRPr lang="es-ES" sz="900" dirty="0"/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83DD21D4-0FE4-3AC2-A5C3-BAA923B4DC98}"/>
              </a:ext>
            </a:extLst>
          </p:cNvPr>
          <p:cNvSpPr/>
          <p:nvPr/>
        </p:nvSpPr>
        <p:spPr>
          <a:xfrm>
            <a:off x="5651185" y="5605110"/>
            <a:ext cx="461009" cy="146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ES" sz="900" dirty="0" err="1"/>
              <a:t>Inspection</a:t>
            </a:r>
            <a:endParaRPr lang="es-ES" sz="900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986F828C-F004-90D4-F3CF-D6DD61DE9D51}"/>
              </a:ext>
            </a:extLst>
          </p:cNvPr>
          <p:cNvSpPr/>
          <p:nvPr/>
        </p:nvSpPr>
        <p:spPr>
          <a:xfrm>
            <a:off x="4830921" y="6515878"/>
            <a:ext cx="494347" cy="146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s-ES" sz="900" dirty="0" err="1"/>
              <a:t>Packaging</a:t>
            </a:r>
            <a:endParaRPr lang="es-ES" sz="900" dirty="0"/>
          </a:p>
        </p:txBody>
      </p:sp>
    </p:spTree>
    <p:extLst>
      <p:ext uri="{BB962C8B-B14F-4D97-AF65-F5344CB8AC3E}">
        <p14:creationId xmlns:p14="http://schemas.microsoft.com/office/powerpoint/2010/main" val="990005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1E00118-B49C-40D5-9A2B-B960249F409A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ca-E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858A2A-0C33-418C-849C-53BFDE89A632}"/>
              </a:ext>
            </a:extLst>
          </p:cNvPr>
          <p:cNvSpPr/>
          <p:nvPr/>
        </p:nvSpPr>
        <p:spPr>
          <a:xfrm>
            <a:off x="3585701" y="99996"/>
            <a:ext cx="502060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Data Exploration: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18E4B1F-04F2-477A-8787-C71D49E53D58}"/>
              </a:ext>
            </a:extLst>
          </p:cNvPr>
          <p:cNvSpPr txBox="1"/>
          <p:nvPr/>
        </p:nvSpPr>
        <p:spPr>
          <a:xfrm>
            <a:off x="1759788" y="1494802"/>
            <a:ext cx="535558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345,600 rows × 25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columns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8 stations × 30 </a:t>
            </a: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days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Stations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:		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ST1: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Robotics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– ST4: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Assembly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– ST7: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Inspection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ST2: CNC – ST5: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Welding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– ST8: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Packaging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ST3: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Robotics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– ST6: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Cooling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Failures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 Cause: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Process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Failures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: (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Out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of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Scope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Changeover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, </a:t>
            </a: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Blocked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, </a:t>
            </a: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Starved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, </a:t>
            </a: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Quality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Functionality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 </a:t>
            </a: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Failures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Mechanical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: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Vibration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, Air </a:t>
            </a: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Pressure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, </a:t>
            </a: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Humidity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.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kumimoji="0" lang="es-ES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Electrical</a:t>
            </a:r>
            <a:r>
              <a:rPr kumimoji="0" lang="es-E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: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Temperature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, Energy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Consumption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.</a:t>
            </a:r>
            <a:br>
              <a:rPr lang="es-ES" dirty="0">
                <a:solidFill>
                  <a:prstClr val="white"/>
                </a:solidFill>
                <a:latin typeface="Tw Cen MT" panose="020B0602020104020603"/>
              </a:rPr>
            </a:b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</a:t>
            </a:r>
            <a:endParaRPr kumimoji="0" lang="es-E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  <a:p>
            <a:pPr marL="0" marR="0" lvl="1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1386E12-880E-4A87-9C58-72230817ED1D}"/>
              </a:ext>
            </a:extLst>
          </p:cNvPr>
          <p:cNvSpPr/>
          <p:nvPr/>
        </p:nvSpPr>
        <p:spPr>
          <a:xfrm>
            <a:off x="232756" y="216528"/>
            <a:ext cx="989213" cy="690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E07B3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589925B-712F-67E5-8052-50D109CE2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5114" y="1494802"/>
            <a:ext cx="3393117" cy="4624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281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1E00118-B49C-40D5-9A2B-B960249F409A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ca-E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858A2A-0C33-418C-849C-53BFDE89A632}"/>
              </a:ext>
            </a:extLst>
          </p:cNvPr>
          <p:cNvSpPr/>
          <p:nvPr/>
        </p:nvSpPr>
        <p:spPr>
          <a:xfrm>
            <a:off x="3777101" y="99996"/>
            <a:ext cx="463780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Data </a:t>
            </a:r>
            <a:r>
              <a:rPr kumimoji="0" lang="es-ES" sz="5400" b="0" i="0" u="none" strike="noStrike" kern="1200" cap="none" spc="0" normalizeH="0" baseline="0" noProof="0" dirty="0" err="1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Cleanning</a:t>
            </a:r>
            <a:r>
              <a:rPr kumimoji="0" lang="es-E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:</a:t>
            </a: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1386E12-880E-4A87-9C58-72230817ED1D}"/>
              </a:ext>
            </a:extLst>
          </p:cNvPr>
          <p:cNvSpPr/>
          <p:nvPr/>
        </p:nvSpPr>
        <p:spPr>
          <a:xfrm>
            <a:off x="232756" y="216528"/>
            <a:ext cx="989213" cy="690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E07B3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F2DF5EC-35D5-CBCC-9CDF-B512E5EA7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8137" y="2419967"/>
            <a:ext cx="5675721" cy="364079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847CE440-0238-0E9B-DEB3-2D040E52E275}"/>
              </a:ext>
            </a:extLst>
          </p:cNvPr>
          <p:cNvSpPr txBox="1"/>
          <p:nvPr/>
        </p:nvSpPr>
        <p:spPr>
          <a:xfrm>
            <a:off x="1759788" y="1339908"/>
            <a:ext cx="77398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Split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Initial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df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to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df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for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each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 ST.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Each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ST has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its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owns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sensors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so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Feature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Sensors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not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 in ST are </a:t>
            </a:r>
            <a:r>
              <a:rPr lang="es-ES" dirty="0" err="1">
                <a:solidFill>
                  <a:prstClr val="white"/>
                </a:solidFill>
                <a:latin typeface="Tw Cen MT" panose="020B0602020104020603"/>
              </a:rPr>
              <a:t>deleted</a:t>
            </a:r>
            <a:r>
              <a:rPr lang="es-ES" dirty="0">
                <a:solidFill>
                  <a:prstClr val="white"/>
                </a:solidFill>
                <a:latin typeface="Tw Cen MT" panose="020B0602020104020603"/>
              </a:rPr>
              <a:t>.</a:t>
            </a:r>
            <a:endParaRPr kumimoji="0" lang="es-E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7479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1E00118-B49C-40D5-9A2B-B960249F409A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ca-E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858A2A-0C33-418C-849C-53BFDE89A632}"/>
              </a:ext>
            </a:extLst>
          </p:cNvPr>
          <p:cNvSpPr/>
          <p:nvPr/>
        </p:nvSpPr>
        <p:spPr>
          <a:xfrm>
            <a:off x="3777101" y="99996"/>
            <a:ext cx="463780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Data </a:t>
            </a:r>
            <a:r>
              <a:rPr kumimoji="0" lang="es-ES" sz="5400" b="0" i="0" u="none" strike="noStrike" kern="1200" cap="none" spc="0" normalizeH="0" baseline="0" noProof="0" dirty="0" err="1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Cleanning</a:t>
            </a:r>
            <a:r>
              <a:rPr kumimoji="0" lang="es-E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:</a:t>
            </a: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1386E12-880E-4A87-9C58-72230817ED1D}"/>
              </a:ext>
            </a:extLst>
          </p:cNvPr>
          <p:cNvSpPr/>
          <p:nvPr/>
        </p:nvSpPr>
        <p:spPr>
          <a:xfrm>
            <a:off x="232756" y="216528"/>
            <a:ext cx="989213" cy="690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E07B3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4D38FFC-DEBF-CAB9-BAC6-6B65FF4D46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3766" y="2295072"/>
            <a:ext cx="3942817" cy="3882714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B033C0D8-ED17-0CC1-2909-C0F037567F33}"/>
              </a:ext>
            </a:extLst>
          </p:cNvPr>
          <p:cNvSpPr txBox="1"/>
          <p:nvPr/>
        </p:nvSpPr>
        <p:spPr>
          <a:xfrm flipH="1">
            <a:off x="3089129" y="1946656"/>
            <a:ext cx="552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ST1</a:t>
            </a:r>
            <a:endParaRPr kumimoji="0" lang="es-E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99C93B4-7712-4AAF-9F8E-E1BA9AC067EF}"/>
              </a:ext>
            </a:extLst>
          </p:cNvPr>
          <p:cNvSpPr txBox="1"/>
          <p:nvPr/>
        </p:nvSpPr>
        <p:spPr>
          <a:xfrm flipH="1">
            <a:off x="8574992" y="1946656"/>
            <a:ext cx="552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ST7</a:t>
            </a:r>
            <a:endParaRPr kumimoji="0" lang="es-ES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9EA86AB-8263-F2F2-6A44-8EA687D7A8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2462" y="2295072"/>
            <a:ext cx="4217148" cy="3156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49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1E00118-B49C-40D5-9A2B-B960249F409A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858A2A-0C33-418C-849C-53BFDE89A632}"/>
              </a:ext>
            </a:extLst>
          </p:cNvPr>
          <p:cNvSpPr/>
          <p:nvPr/>
        </p:nvSpPr>
        <p:spPr>
          <a:xfrm>
            <a:off x="3258243" y="99996"/>
            <a:ext cx="567552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Feature Engineering: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018E4B1F-04F2-477A-8787-C71D49E53D58}"/>
              </a:ext>
            </a:extLst>
          </p:cNvPr>
          <p:cNvSpPr txBox="1"/>
          <p:nvPr/>
        </p:nvSpPr>
        <p:spPr>
          <a:xfrm>
            <a:off x="2299236" y="4090909"/>
            <a:ext cx="759352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Define the target: Look 30 minutes AHEAD, if a failure occurs at any point within that window, target = 1.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Failure = Mechanical or Electrical Cause.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 news feature to predict future, reading the sensor behavior from past (15 min before) &amp; present.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Predictors features: mean15, std15, slope15 and current measure.</a:t>
            </a: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1386E12-880E-4A87-9C58-72230817ED1D}"/>
              </a:ext>
            </a:extLst>
          </p:cNvPr>
          <p:cNvSpPr/>
          <p:nvPr/>
        </p:nvSpPr>
        <p:spPr>
          <a:xfrm>
            <a:off x="232756" y="216528"/>
            <a:ext cx="989213" cy="690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4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832A986-6D84-30FF-7E73-546F3A825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7953" y="1585414"/>
            <a:ext cx="6116086" cy="2414244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CC6FE73B-5E89-A681-FADB-7828BD84A4BF}"/>
              </a:ext>
            </a:extLst>
          </p:cNvPr>
          <p:cNvSpPr txBox="1"/>
          <p:nvPr/>
        </p:nvSpPr>
        <p:spPr>
          <a:xfrm>
            <a:off x="1651458" y="1124832"/>
            <a:ext cx="8889077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dirty="0">
                <a:highlight>
                  <a:srgbClr val="000000"/>
                </a:highlight>
              </a:rPr>
              <a:t>Find when the fail is triggered for each ST.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37488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1E00118-B49C-40D5-9A2B-B960249F409A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858A2A-0C33-418C-849C-53BFDE89A632}"/>
              </a:ext>
            </a:extLst>
          </p:cNvPr>
          <p:cNvSpPr/>
          <p:nvPr/>
        </p:nvSpPr>
        <p:spPr>
          <a:xfrm>
            <a:off x="3258243" y="99996"/>
            <a:ext cx="567552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Feature Engineering:</a:t>
            </a: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1386E12-880E-4A87-9C58-72230817ED1D}"/>
              </a:ext>
            </a:extLst>
          </p:cNvPr>
          <p:cNvSpPr/>
          <p:nvPr/>
        </p:nvSpPr>
        <p:spPr>
          <a:xfrm>
            <a:off x="232756" y="216528"/>
            <a:ext cx="989213" cy="690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4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08CBE4B-9E9C-B49F-510E-4B7AF5E46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444" y="1688498"/>
            <a:ext cx="4793997" cy="2159061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940C14F-4164-A52E-0C58-5F5841F71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3" y="1688498"/>
            <a:ext cx="4798403" cy="215906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0CE26EE-3988-9031-8B91-B4FE79A16A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6444" y="4089971"/>
            <a:ext cx="4798403" cy="215906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1B3317C8-B7D2-9F92-BCFE-6587BCD8A3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559" y="4091953"/>
            <a:ext cx="4793997" cy="2157079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A1BF1D1B-A69D-3DB3-0B22-9B4EA4357544}"/>
              </a:ext>
            </a:extLst>
          </p:cNvPr>
          <p:cNvSpPr txBox="1"/>
          <p:nvPr/>
        </p:nvSpPr>
        <p:spPr>
          <a:xfrm>
            <a:off x="1651458" y="1124832"/>
            <a:ext cx="8889077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dirty="0">
                <a:highlight>
                  <a:srgbClr val="000000"/>
                </a:highlight>
              </a:rPr>
              <a:t>Find when the fail is triggered for each ST.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23346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1E00118-B49C-40D5-9A2B-B960249F409A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858A2A-0C33-418C-849C-53BFDE89A632}"/>
              </a:ext>
            </a:extLst>
          </p:cNvPr>
          <p:cNvSpPr/>
          <p:nvPr/>
        </p:nvSpPr>
        <p:spPr>
          <a:xfrm>
            <a:off x="4493643" y="99996"/>
            <a:ext cx="320472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Modeling</a:t>
            </a:r>
            <a:r>
              <a:rPr lang="es-E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&amp; </a:t>
            </a:r>
            <a:r>
              <a:rPr lang="es-E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Results</a:t>
            </a:r>
            <a:r>
              <a:rPr lang="es-E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:</a:t>
            </a: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1386E12-880E-4A87-9C58-72230817ED1D}"/>
              </a:ext>
            </a:extLst>
          </p:cNvPr>
          <p:cNvSpPr/>
          <p:nvPr/>
        </p:nvSpPr>
        <p:spPr>
          <a:xfrm>
            <a:off x="232756" y="216528"/>
            <a:ext cx="989213" cy="690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54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1B14448-2732-066A-4BB4-225F8ABE103F}"/>
              </a:ext>
            </a:extLst>
          </p:cNvPr>
          <p:cNvSpPr txBox="1"/>
          <p:nvPr/>
        </p:nvSpPr>
        <p:spPr>
          <a:xfrm>
            <a:off x="1844900" y="2011583"/>
            <a:ext cx="8502192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AutoNum type="arabicPeriod"/>
            </a:pPr>
            <a:r>
              <a:rPr lang="en-US" dirty="0"/>
              <a:t>Random Forest and </a:t>
            </a:r>
            <a:r>
              <a:rPr lang="en-US" dirty="0" err="1"/>
              <a:t>XGBoost</a:t>
            </a:r>
            <a:r>
              <a:rPr lang="en-US" dirty="0"/>
              <a:t> are the models selected.</a:t>
            </a:r>
          </a:p>
          <a:p>
            <a:pPr marL="742950" lvl="1" indent="-285750">
              <a:buAutoNum type="arabicPeriod"/>
            </a:pPr>
            <a:r>
              <a:rPr lang="en-US" dirty="0"/>
              <a:t>Best options regarding present features.</a:t>
            </a:r>
          </a:p>
          <a:p>
            <a:pPr marL="1200150" lvl="2" indent="-285750">
              <a:buAutoNum type="arabicPeriod"/>
            </a:pPr>
            <a:r>
              <a:rPr lang="en-US" dirty="0"/>
              <a:t>Features has different ranges measures, RF and XGB don’t need Normalization.</a:t>
            </a:r>
          </a:p>
          <a:p>
            <a:pPr marL="742950" lvl="1" indent="-285750">
              <a:buAutoNum type="arabicPeriod"/>
            </a:pPr>
            <a:r>
              <a:rPr lang="en-US" dirty="0"/>
              <a:t>Works well with unbalanced classes.</a:t>
            </a:r>
          </a:p>
          <a:p>
            <a:pPr marL="742950" lvl="1" indent="-285750">
              <a:buAutoNum type="arabicPeriod"/>
            </a:pPr>
            <a:r>
              <a:rPr lang="en-US" dirty="0"/>
              <a:t>Fast models to train.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08C85EE-F8D7-88EB-4F99-BB55DCDDCB8E}"/>
              </a:ext>
            </a:extLst>
          </p:cNvPr>
          <p:cNvSpPr txBox="1"/>
          <p:nvPr/>
        </p:nvSpPr>
        <p:spPr>
          <a:xfrm>
            <a:off x="1651458" y="1124832"/>
            <a:ext cx="8889077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dirty="0">
                <a:highlight>
                  <a:srgbClr val="000000"/>
                </a:highlight>
              </a:rPr>
              <a:t>Random Forest vs </a:t>
            </a:r>
            <a:r>
              <a:rPr lang="en-US" dirty="0" err="1">
                <a:highlight>
                  <a:srgbClr val="000000"/>
                </a:highlight>
              </a:rPr>
              <a:t>XGBoost</a:t>
            </a:r>
            <a:endParaRPr lang="es-ES" dirty="0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F733A126-2BE5-98D9-74A0-D62D790477EE}"/>
              </a:ext>
            </a:extLst>
          </p:cNvPr>
          <p:cNvSpPr txBox="1"/>
          <p:nvPr/>
        </p:nvSpPr>
        <p:spPr>
          <a:xfrm>
            <a:off x="1844900" y="4168590"/>
            <a:ext cx="8502192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dirty="0"/>
              <a:t>Data </a:t>
            </a:r>
            <a:r>
              <a:rPr lang="en-US" dirty="0" err="1"/>
              <a:t>splitted</a:t>
            </a:r>
            <a:r>
              <a:rPr lang="en-US" dirty="0"/>
              <a:t> in 80% Train, 20% Test.</a:t>
            </a:r>
          </a:p>
          <a:p>
            <a:pPr marL="742950" lvl="1" indent="-285750">
              <a:buAutoNum type="arabicPeriod"/>
            </a:pPr>
            <a:r>
              <a:rPr lang="en-US" dirty="0"/>
              <a:t>20% has been used to validate model and for the “Simulation prediction”</a:t>
            </a:r>
          </a:p>
        </p:txBody>
      </p:sp>
    </p:spTree>
    <p:extLst>
      <p:ext uri="{BB962C8B-B14F-4D97-AF65-F5344CB8AC3E}">
        <p14:creationId xmlns:p14="http://schemas.microsoft.com/office/powerpoint/2010/main" val="3900312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1E00118-B49C-40D5-9A2B-B960249F409A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858A2A-0C33-418C-849C-53BFDE89A632}"/>
              </a:ext>
            </a:extLst>
          </p:cNvPr>
          <p:cNvSpPr/>
          <p:nvPr/>
        </p:nvSpPr>
        <p:spPr>
          <a:xfrm>
            <a:off x="4493643" y="99996"/>
            <a:ext cx="320472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Modeling &amp; Results:</a:t>
            </a: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1386E12-880E-4A87-9C58-72230817ED1D}"/>
              </a:ext>
            </a:extLst>
          </p:cNvPr>
          <p:cNvSpPr/>
          <p:nvPr/>
        </p:nvSpPr>
        <p:spPr>
          <a:xfrm>
            <a:off x="232756" y="216528"/>
            <a:ext cx="989213" cy="690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54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1B14448-2732-066A-4BB4-225F8ABE103F}"/>
              </a:ext>
            </a:extLst>
          </p:cNvPr>
          <p:cNvSpPr txBox="1"/>
          <p:nvPr/>
        </p:nvSpPr>
        <p:spPr>
          <a:xfrm>
            <a:off x="1844900" y="4744505"/>
            <a:ext cx="8502192" cy="203132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AutoNum type="arabicPeriod"/>
            </a:pPr>
            <a:r>
              <a:rPr lang="en-US" dirty="0"/>
              <a:t>Best model for ST chosen by Recall [Detect TP / (TP + FN)]</a:t>
            </a:r>
            <a:br>
              <a:rPr lang="en-US" dirty="0"/>
            </a:br>
            <a:r>
              <a:rPr lang="en-US" dirty="0"/>
              <a:t>In Production Dept, missed failure costs more than a false alarm.</a:t>
            </a:r>
          </a:p>
          <a:p>
            <a:pPr marL="285750" indent="-285750">
              <a:buFontTx/>
              <a:buAutoNum type="arabicPeriod"/>
            </a:pPr>
            <a:r>
              <a:rPr lang="en-US" dirty="0"/>
              <a:t>Fix Recall value (80-90%) for ST to focus in the Precision. </a:t>
            </a:r>
            <a:br>
              <a:rPr lang="en-US" dirty="0"/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Example: ST7 (1 sensor) forcing a 90% floor drops Precision to 12.8%.</a:t>
            </a:r>
            <a:endParaRPr lang="en-US" dirty="0"/>
          </a:p>
          <a:p>
            <a:pPr marL="285750" indent="-285750">
              <a:buAutoNum type="arabicPeriod"/>
            </a:pPr>
            <a:r>
              <a:rPr lang="en-US" dirty="0"/>
              <a:t>XGB Boost was selected:</a:t>
            </a:r>
          </a:p>
          <a:p>
            <a:pPr marL="742950" lvl="1" indent="-285750">
              <a:buAutoNum type="arabicPeriod"/>
            </a:pPr>
            <a:r>
              <a:rPr lang="en-US" dirty="0"/>
              <a:t>Average Accuracy 94.1%, Average Precision 74.1%.</a:t>
            </a:r>
          </a:p>
          <a:p>
            <a:pPr marL="742950" lvl="1" indent="-285750">
              <a:buAutoNum type="arabicPeriod"/>
            </a:pPr>
            <a:r>
              <a:rPr lang="en-US" dirty="0"/>
              <a:t>Model Precision between 70-78%, that means 1 over 4 are False Positive alarm.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08C85EE-F8D7-88EB-4F99-BB55DCDDCB8E}"/>
              </a:ext>
            </a:extLst>
          </p:cNvPr>
          <p:cNvSpPr txBox="1"/>
          <p:nvPr/>
        </p:nvSpPr>
        <p:spPr>
          <a:xfrm>
            <a:off x="1651458" y="1124832"/>
            <a:ext cx="8889077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dirty="0">
                <a:highlight>
                  <a:srgbClr val="000000"/>
                </a:highlight>
              </a:rPr>
              <a:t>Random Forest vs </a:t>
            </a:r>
            <a:r>
              <a:rPr lang="en-US" dirty="0" err="1">
                <a:highlight>
                  <a:srgbClr val="000000"/>
                </a:highlight>
              </a:rPr>
              <a:t>XGBoost</a:t>
            </a:r>
            <a:endParaRPr lang="es-ES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777AA15F-0313-DEAA-E8CA-1E6A6A5686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44"/>
          <a:stretch/>
        </p:blipFill>
        <p:spPr>
          <a:xfrm>
            <a:off x="1393766" y="1537481"/>
            <a:ext cx="4816257" cy="3163707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5387A62F-3352-9BBC-87C5-73C0D261D0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1283" y="1542913"/>
            <a:ext cx="3196948" cy="3158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933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614D5C25-1FE9-CE0B-C796-25EF0A92C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9697" y="2126119"/>
            <a:ext cx="1600000" cy="1600000"/>
          </a:xfrm>
          <a:prstGeom prst="rect">
            <a:avLst/>
          </a:prstGeom>
        </p:spPr>
      </p:pic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1E00118-B49C-40D5-9A2B-B960249F409A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a-ES"/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858A2A-0C33-418C-849C-53BFDE89A632}"/>
              </a:ext>
            </a:extLst>
          </p:cNvPr>
          <p:cNvSpPr/>
          <p:nvPr/>
        </p:nvSpPr>
        <p:spPr>
          <a:xfrm>
            <a:off x="1511545" y="99996"/>
            <a:ext cx="91689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GenAI &amp; Dashboard:</a:t>
            </a: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1386E12-880E-4A87-9C58-72230817ED1D}"/>
              </a:ext>
            </a:extLst>
          </p:cNvPr>
          <p:cNvSpPr/>
          <p:nvPr/>
        </p:nvSpPr>
        <p:spPr>
          <a:xfrm>
            <a:off x="232756" y="216528"/>
            <a:ext cx="989213" cy="690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07B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54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D0943D5-8315-9F2F-B13B-E0B52F134BA4}"/>
              </a:ext>
            </a:extLst>
          </p:cNvPr>
          <p:cNvSpPr txBox="1"/>
          <p:nvPr/>
        </p:nvSpPr>
        <p:spPr>
          <a:xfrm>
            <a:off x="1844900" y="4987447"/>
            <a:ext cx="8502192" cy="17543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AutoNum type="arabicPeriod"/>
            </a:pPr>
            <a:r>
              <a:rPr lang="en-US" dirty="0"/>
              <a:t>Large Language Model is used for calling tools function and send proper answer to the asker. </a:t>
            </a:r>
          </a:p>
          <a:p>
            <a:pPr marL="285750" indent="-285750">
              <a:buAutoNum type="arabicPeriod"/>
            </a:pPr>
            <a:endParaRPr lang="en-US" dirty="0"/>
          </a:p>
          <a:p>
            <a:pPr marL="285750" indent="-285750">
              <a:buAutoNum type="arabicPeriod"/>
            </a:pPr>
            <a:r>
              <a:rPr lang="en-US" dirty="0"/>
              <a:t>Interactive </a:t>
            </a:r>
            <a:r>
              <a:rPr lang="en-US" dirty="0" err="1"/>
              <a:t>Streamlit</a:t>
            </a:r>
            <a:r>
              <a:rPr lang="en-US" dirty="0"/>
              <a:t> dashboard:</a:t>
            </a:r>
          </a:p>
          <a:p>
            <a:pPr marL="742950" lvl="1" indent="-285750">
              <a:buAutoNum type="arabicPeriod"/>
            </a:pPr>
            <a:r>
              <a:rPr lang="en-US" dirty="0"/>
              <a:t>Timestamp slider for simulation testing.</a:t>
            </a:r>
          </a:p>
          <a:p>
            <a:pPr marL="742950" lvl="1" indent="-285750">
              <a:buAutoNum type="arabicPeriod"/>
            </a:pPr>
            <a:r>
              <a:rPr lang="en-US" dirty="0"/>
              <a:t>Prediction Vs Real Failure with error cause.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D032CE8-43C8-82BE-3F51-595F2F6F9AB9}"/>
              </a:ext>
            </a:extLst>
          </p:cNvPr>
          <p:cNvSpPr txBox="1"/>
          <p:nvPr/>
        </p:nvSpPr>
        <p:spPr>
          <a:xfrm>
            <a:off x="1651458" y="1124832"/>
            <a:ext cx="8889077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dirty="0">
                <a:highlight>
                  <a:srgbClr val="000000"/>
                </a:highlight>
              </a:rPr>
              <a:t>Gemini 3.7 Flash for Calling Agent</a:t>
            </a:r>
            <a:endParaRPr lang="es-ES" dirty="0"/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D842677A-4088-67C0-ED33-BE6ED219B26F}"/>
              </a:ext>
            </a:extLst>
          </p:cNvPr>
          <p:cNvGrpSpPr/>
          <p:nvPr/>
        </p:nvGrpSpPr>
        <p:grpSpPr>
          <a:xfrm>
            <a:off x="1393765" y="1601675"/>
            <a:ext cx="9404465" cy="3355836"/>
            <a:chOff x="1393766" y="1754244"/>
            <a:chExt cx="8223610" cy="2943187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28223D4C-BDED-9805-8B56-C466A73681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3766" y="1754244"/>
              <a:ext cx="8223610" cy="2943187"/>
            </a:xfrm>
            <a:prstGeom prst="rect">
              <a:avLst/>
            </a:prstGeom>
          </p:spPr>
        </p:pic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7678C361-E243-6945-0050-3502A314ABF8}"/>
                </a:ext>
              </a:extLst>
            </p:cNvPr>
            <p:cNvSpPr/>
            <p:nvPr/>
          </p:nvSpPr>
          <p:spPr>
            <a:xfrm>
              <a:off x="1393766" y="3850640"/>
              <a:ext cx="2035234" cy="63603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1B337D94-E30E-C9EE-17CA-1407A3493120}"/>
                </a:ext>
              </a:extLst>
            </p:cNvPr>
            <p:cNvSpPr/>
            <p:nvPr/>
          </p:nvSpPr>
          <p:spPr>
            <a:xfrm>
              <a:off x="2392680" y="3908829"/>
              <a:ext cx="988060" cy="15009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4694D005-50B2-C487-4B33-6DECBE56BA79}"/>
                </a:ext>
              </a:extLst>
            </p:cNvPr>
            <p:cNvSpPr/>
            <p:nvPr/>
          </p:nvSpPr>
          <p:spPr>
            <a:xfrm>
              <a:off x="1465580" y="4079241"/>
              <a:ext cx="927100" cy="1143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F0A0A971-A4C0-7EB7-63FE-CB6122C944B7}"/>
                </a:ext>
              </a:extLst>
            </p:cNvPr>
            <p:cNvSpPr/>
            <p:nvPr/>
          </p:nvSpPr>
          <p:spPr>
            <a:xfrm>
              <a:off x="1465580" y="4225807"/>
              <a:ext cx="1861820" cy="2278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sp>
        <p:nvSpPr>
          <p:cNvPr id="18" name="Rectángulo 17">
            <a:extLst>
              <a:ext uri="{FF2B5EF4-FFF2-40B4-BE49-F238E27FC236}">
                <a16:creationId xmlns:a16="http://schemas.microsoft.com/office/drawing/2014/main" id="{32BF9A01-A9B3-28F5-6BE9-18B0BA071B2F}"/>
              </a:ext>
            </a:extLst>
          </p:cNvPr>
          <p:cNvSpPr/>
          <p:nvPr/>
        </p:nvSpPr>
        <p:spPr>
          <a:xfrm>
            <a:off x="1393764" y="2275840"/>
            <a:ext cx="9404465" cy="7252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75894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1E00118-B49C-40D5-9A2B-B960249F409A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ca-E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858A2A-0C33-418C-849C-53BFDE89A632}"/>
              </a:ext>
            </a:extLst>
          </p:cNvPr>
          <p:cNvSpPr/>
          <p:nvPr/>
        </p:nvSpPr>
        <p:spPr>
          <a:xfrm>
            <a:off x="3302449" y="99996"/>
            <a:ext cx="558710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0" normalizeH="0" baseline="0" noProof="0" dirty="0" err="1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Path</a:t>
            </a:r>
            <a:r>
              <a:rPr kumimoji="0" lang="es-E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 </a:t>
            </a:r>
            <a:r>
              <a:rPr kumimoji="0" lang="es-ES" sz="5400" b="0" i="0" u="none" strike="noStrike" kern="1200" cap="none" spc="0" normalizeH="0" baseline="0" noProof="0" dirty="0" err="1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to</a:t>
            </a:r>
            <a:r>
              <a:rPr kumimoji="0" lang="es-E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 </a:t>
            </a:r>
            <a:r>
              <a:rPr lang="es-ES" sz="540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w Cen MT" panose="020B0602020104020603"/>
              </a:rPr>
              <a:t>Real </a:t>
            </a:r>
            <a:r>
              <a:rPr lang="es-ES" sz="5400" dirty="0" err="1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w Cen MT" panose="020B0602020104020603"/>
              </a:rPr>
              <a:t>World</a:t>
            </a:r>
            <a:r>
              <a:rPr kumimoji="0" lang="es-E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:</a:t>
            </a: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1386E12-880E-4A87-9C58-72230817ED1D}"/>
              </a:ext>
            </a:extLst>
          </p:cNvPr>
          <p:cNvSpPr/>
          <p:nvPr/>
        </p:nvSpPr>
        <p:spPr>
          <a:xfrm>
            <a:off x="232756" y="216528"/>
            <a:ext cx="989213" cy="690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E07B3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904" name="CopiedShape904">
            <a:extLst>
              <a:ext uri="{FF2B5EF4-FFF2-40B4-BE49-F238E27FC236}">
                <a16:creationId xmlns:a16="http://schemas.microsoft.com/office/drawing/2014/main" id="{D08C85EE-F8D7-88EB-4F99-BB55DCDDCB8E}"/>
              </a:ext>
            </a:extLst>
          </p:cNvPr>
          <p:cNvSpPr txBox="1"/>
          <p:nvPr/>
        </p:nvSpPr>
        <p:spPr>
          <a:xfrm>
            <a:off x="1651458" y="1124832"/>
            <a:ext cx="8889077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highlight>
                  <a:srgbClr val="000000"/>
                </a:highlight>
                <a:uLnTx/>
                <a:uFillTx/>
                <a:latin typeface="Tw Cen MT" panose="020B0602020104020603"/>
                <a:ea typeface="+mn-ea"/>
                <a:cs typeface="+mn-cs"/>
              </a:rPr>
              <a:t>From Simulator to Real Production</a:t>
            </a: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905" name="CopiedShape905">
            <a:extLst>
              <a:ext uri="{FF2B5EF4-FFF2-40B4-BE49-F238E27FC236}">
                <a16:creationId xmlns:a16="http://schemas.microsoft.com/office/drawing/2014/main" id="{01B14448-2732-066A-4BB4-225F8ABE103F}"/>
              </a:ext>
            </a:extLst>
          </p:cNvPr>
          <p:cNvSpPr txBox="1"/>
          <p:nvPr/>
        </p:nvSpPr>
        <p:spPr>
          <a:xfrm>
            <a:off x="1844900" y="2011583"/>
            <a:ext cx="8502192" cy="147732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Machine (PLC) exports CSV periodically to the Factory Network to retrain the model.</a:t>
            </a:r>
          </a:p>
          <a:p>
            <a:pPr marL="285750" indent="-285750">
              <a:buFontTx/>
              <a:buAutoNum type="arabicPeriod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Upload a new model if the Precision beats the old model on the same test set.</a:t>
            </a:r>
          </a:p>
          <a:p>
            <a:pPr marL="285750" indent="-285750">
              <a:buFontTx/>
              <a:buAutoNum type="arabicPeriod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Validate with Maintenance engineers to get more data about failure reasons.</a:t>
            </a:r>
          </a:p>
          <a:p>
            <a:pPr marL="285750" indent="-285750">
              <a:buFontTx/>
              <a:buAutoNum type="arabicPeriod"/>
            </a:pPr>
            <a:endParaRPr lang="en-US" dirty="0">
              <a:solidFill>
                <a:prstClr val="white"/>
              </a:solidFill>
              <a:latin typeface="Tw Cen MT" panose="020B0602020104020603"/>
            </a:endParaRP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2" name="CopiedShape905">
            <a:extLst>
              <a:ext uri="{FF2B5EF4-FFF2-40B4-BE49-F238E27FC236}">
                <a16:creationId xmlns:a16="http://schemas.microsoft.com/office/drawing/2014/main" id="{F16A3EAE-56B9-5791-015C-2258B3337A50}"/>
              </a:ext>
            </a:extLst>
          </p:cNvPr>
          <p:cNvSpPr txBox="1"/>
          <p:nvPr/>
        </p:nvSpPr>
        <p:spPr>
          <a:xfrm>
            <a:off x="1844900" y="3667663"/>
            <a:ext cx="8502192" cy="258532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Work with 2 different Models:</a:t>
            </a:r>
          </a:p>
          <a:p>
            <a:pPr marL="742950" lvl="1" indent="-285750">
              <a:buFontTx/>
              <a:buAutoNum type="arabicPeriod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Supervised Model: [Already Built]</a:t>
            </a:r>
          </a:p>
          <a:p>
            <a:pPr marL="1200150" lvl="2" indent="-285750">
              <a:buFontTx/>
              <a:buAutoNum type="arabicPeriod"/>
            </a:pPr>
            <a:r>
              <a:rPr lang="en-US" dirty="0">
                <a:solidFill>
                  <a:prstClr val="white"/>
                </a:solidFill>
                <a:latin typeface="Tw Cen MT" panose="020B0602020104020603"/>
              </a:rPr>
              <a:t>It learns with known failures.</a:t>
            </a:r>
          </a:p>
          <a:p>
            <a:pPr marL="742950" lvl="1" indent="-285750">
              <a:buFontTx/>
              <a:buAutoNum type="arabicPeriod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Unsupervised Model:</a:t>
            </a:r>
          </a:p>
          <a:p>
            <a:pPr marL="1200150" lvl="2" indent="-285750">
              <a:buFontTx/>
              <a:buAutoNum type="arabicPeriod"/>
            </a:pPr>
            <a:r>
              <a:rPr lang="en-US" dirty="0">
                <a:solidFill>
                  <a:prstClr val="white"/>
                </a:solidFill>
                <a:latin typeface="Tw Cen MT" panose="020B0602020104020603"/>
              </a:rPr>
              <a:t>Learns the normal healthy behavior.</a:t>
            </a:r>
          </a:p>
          <a:p>
            <a:pPr marL="285750" indent="-285750">
              <a:buFontTx/>
              <a:buAutoNum type="arabicPeriod"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Combining both could detect failures than the supervised model alone would miss.</a:t>
            </a:r>
          </a:p>
          <a:p>
            <a:pPr marL="285750" indent="-285750">
              <a:buFontTx/>
              <a:buAutoNum type="arabicPeriod"/>
            </a:pPr>
            <a:r>
              <a:rPr lang="en-US" dirty="0" err="1">
                <a:solidFill>
                  <a:prstClr val="white"/>
                </a:solidFill>
                <a:latin typeface="Tw Cen MT" panose="020B0602020104020603"/>
              </a:rPr>
              <a:t>GenAI</a:t>
            </a:r>
            <a:r>
              <a:rPr lang="en-US" dirty="0">
                <a:solidFill>
                  <a:prstClr val="white"/>
                </a:solidFill>
                <a:latin typeface="Tw Cen MT" panose="020B0602020104020603"/>
              </a:rPr>
              <a:t> will have all the manual documentation for each device in the Production Line, so Maintenance Dept could ask how to repair the failure.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0248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91E00118-B49C-40D5-9A2B-B960249F409A}"/>
              </a:ext>
            </a:extLst>
          </p:cNvPr>
          <p:cNvSpPr/>
          <p:nvPr/>
        </p:nvSpPr>
        <p:spPr>
          <a:xfrm>
            <a:off x="1393766" y="1023326"/>
            <a:ext cx="9404465" cy="5818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ca-E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E858A2A-0C33-418C-849C-53BFDE89A632}"/>
              </a:ext>
            </a:extLst>
          </p:cNvPr>
          <p:cNvSpPr/>
          <p:nvPr/>
        </p:nvSpPr>
        <p:spPr>
          <a:xfrm>
            <a:off x="4426827" y="99996"/>
            <a:ext cx="333835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5400" b="0" i="0" u="none" strike="noStrike" kern="1200" cap="none" spc="0" normalizeH="0" baseline="0" noProof="0" dirty="0" err="1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Challenges</a:t>
            </a:r>
            <a:r>
              <a:rPr kumimoji="0" lang="es-ES" sz="5400" b="0" i="0" u="none" strike="noStrike" kern="1200" cap="none" spc="0" normalizeH="0" baseline="0" noProof="0" dirty="0">
                <a:ln w="0"/>
                <a:solidFill>
                  <a:prstClr val="white"/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Tw Cen MT" panose="020B0602020104020603"/>
                <a:ea typeface="+mn-ea"/>
                <a:cs typeface="+mn-cs"/>
              </a:rPr>
              <a:t>:</a:t>
            </a:r>
          </a:p>
        </p:txBody>
      </p:sp>
      <p:sp>
        <p:nvSpPr>
          <p:cNvPr id="20" name="Text 3">
            <a:extLst>
              <a:ext uri="{FF2B5EF4-FFF2-40B4-BE49-F238E27FC236}">
                <a16:creationId xmlns:a16="http://schemas.microsoft.com/office/drawing/2014/main" id="{81386E12-880E-4A87-9C58-72230817ED1D}"/>
              </a:ext>
            </a:extLst>
          </p:cNvPr>
          <p:cNvSpPr/>
          <p:nvPr/>
        </p:nvSpPr>
        <p:spPr>
          <a:xfrm>
            <a:off x="232756" y="216528"/>
            <a:ext cx="989213" cy="6902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E07B39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902" name="CopiedShape902">
            <a:extLst>
              <a:ext uri="{FF2B5EF4-FFF2-40B4-BE49-F238E27FC236}">
                <a16:creationId xmlns:a16="http://schemas.microsoft.com/office/drawing/2014/main" id="{01B14448-2732-066A-4BB4-225F8ABE103F}"/>
              </a:ext>
            </a:extLst>
          </p:cNvPr>
          <p:cNvSpPr txBox="1"/>
          <p:nvPr/>
        </p:nvSpPr>
        <p:spPr>
          <a:xfrm>
            <a:off x="1844900" y="2011583"/>
            <a:ext cx="8502192" cy="230832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Huge class imbalance, only 16% of minutes were a real Mechanical/Electrical failure.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Business trade-off: a missed failure costs more than a false alarm, so Recall is prioritized.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Different stations need different Recall floors (80%-90%) because stations with fewer or less informative sensors can't sustain a high Recall without Precision collapsing.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Example: ST7 (1 sensor) forcing a 90% floor drops Precision to 12.8%.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w Cen MT" panose="020B0602020104020603"/>
              <a:ea typeface="+mn-ea"/>
              <a:cs typeface="+mn-cs"/>
            </a:endParaRPr>
          </a:p>
        </p:txBody>
      </p:sp>
      <p:sp>
        <p:nvSpPr>
          <p:cNvPr id="903" name="CopiedShape903">
            <a:extLst>
              <a:ext uri="{FF2B5EF4-FFF2-40B4-BE49-F238E27FC236}">
                <a16:creationId xmlns:a16="http://schemas.microsoft.com/office/drawing/2014/main" id="{F733A126-2BE5-98D9-74A0-D62D790477EE}"/>
              </a:ext>
            </a:extLst>
          </p:cNvPr>
          <p:cNvSpPr txBox="1"/>
          <p:nvPr/>
        </p:nvSpPr>
        <p:spPr>
          <a:xfrm>
            <a:off x="1844900" y="4400000"/>
            <a:ext cx="8502192" cy="120032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 startAt="2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Threshold calibrated via the Precision-Recall, not the default 0.5, maximizes Precision at the required Recall.</a:t>
            </a:r>
          </a:p>
          <a:p>
            <a:pPr marL="742950" marR="0" lvl="1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w Cen MT" panose="020B0602020104020603"/>
                <a:ea typeface="+mn-ea"/>
                <a:cs typeface="+mn-cs"/>
              </a:rPr>
              <a:t>Once Recall is fixed manually, Precision becomes the real differentiator between models.</a:t>
            </a:r>
          </a:p>
        </p:txBody>
      </p:sp>
    </p:spTree>
    <p:extLst>
      <p:ext uri="{BB962C8B-B14F-4D97-AF65-F5344CB8AC3E}">
        <p14:creationId xmlns:p14="http://schemas.microsoft.com/office/powerpoint/2010/main" val="344535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earn Web Development, Data Analytics &amp; UX/UI Design | Ironhack">
            <a:extLst>
              <a:ext uri="{FF2B5EF4-FFF2-40B4-BE49-F238E27FC236}">
                <a16:creationId xmlns:a16="http://schemas.microsoft.com/office/drawing/2014/main" id="{5E01E9BE-6179-4E9B-AFDA-54077CD7ED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5556" y="85897"/>
            <a:ext cx="867122" cy="93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AEBF0EB4-F14C-4E33-9706-7C4CF19A3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09181" y="2275681"/>
            <a:ext cx="8791575" cy="2306637"/>
          </a:xfrm>
        </p:spPr>
        <p:txBody>
          <a:bodyPr/>
          <a:lstStyle/>
          <a:p>
            <a:pPr algn="ctr"/>
            <a:r>
              <a:rPr lang="es-ES" dirty="0" err="1"/>
              <a:t>Thank</a:t>
            </a:r>
            <a:r>
              <a:rPr lang="es-ES" dirty="0"/>
              <a:t> </a:t>
            </a:r>
            <a:r>
              <a:rPr lang="es-ES" dirty="0" err="1"/>
              <a:t>you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your</a:t>
            </a:r>
            <a:r>
              <a:rPr lang="es-ES" dirty="0"/>
              <a:t> </a:t>
            </a:r>
            <a:r>
              <a:rPr lang="es-ES" dirty="0" err="1"/>
              <a:t>attention</a:t>
            </a:r>
            <a:r>
              <a:rPr lang="es-ES" dirty="0"/>
              <a:t>.</a:t>
            </a: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63416456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{A9023AA8-1BCB-48CD-A9FA-B95B0C368471}TF6d5feb1e-e145-43f1-b745-cb4b54c5ee97494f94d6-c317f2461df2</Template>
  <TotalTime>12583</TotalTime>
  <Words>780</Words>
  <Application>Microsoft Office PowerPoint</Application>
  <PresentationFormat>Panorámica</PresentationFormat>
  <Paragraphs>115</Paragraphs>
  <Slides>14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9" baseType="lpstr">
      <vt:lpstr>Aptos</vt:lpstr>
      <vt:lpstr>Arial</vt:lpstr>
      <vt:lpstr>Cambria</vt:lpstr>
      <vt:lpstr>Tw Cen MT</vt:lpstr>
      <vt:lpstr>Circuito</vt:lpstr>
      <vt:lpstr>Production Line  Predictive Maintenance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Thank you for your attention.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Albert Olivella</dc:creator>
  <cp:lastModifiedBy>Albert Olivella</cp:lastModifiedBy>
  <cp:revision>268</cp:revision>
  <dcterms:created xsi:type="dcterms:W3CDTF">2026-06-22T20:14:51Z</dcterms:created>
  <dcterms:modified xsi:type="dcterms:W3CDTF">2026-09-12T14:00:13Z</dcterms:modified>
</cp:coreProperties>
</file>