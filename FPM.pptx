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82" r:id="rId2"/>
    <p:sldId id="283" r:id="rId3"/>
    <p:sldId id="284" r:id="rId4"/>
    <p:sldId id="293" r:id="rId5"/>
    <p:sldId id="294" r:id="rId6"/>
    <p:sldId id="295" r:id="rId7"/>
    <p:sldId id="286" r:id="rId8"/>
    <p:sldId id="296" r:id="rId9"/>
    <p:sldId id="287" r:id="rId10"/>
    <p:sldId id="297" r:id="rId11"/>
    <p:sldId id="289" r:id="rId12"/>
    <p:sldId id="290" r:id="rId13"/>
    <p:sldId id="29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638E44-0139-4D74-AD1A-BB7CDA5B1C7F}" v="1440" dt="2026-07-23T11:34:12.8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earn Web Development, Data Analytics &amp; UX/UI Design | Ironhack">
            <a:extLst>
              <a:ext uri="{FF2B5EF4-FFF2-40B4-BE49-F238E27FC236}">
                <a16:creationId xmlns:a16="http://schemas.microsoft.com/office/drawing/2014/main" id="{5E01E9BE-6179-4E9B-AFDA-54077CD7E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5556" y="85897"/>
            <a:ext cx="867122" cy="937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AEBF0EB4-F14C-4E33-9706-7C4CF19A30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4"/>
            <a:ext cx="8791575" cy="1496146"/>
          </a:xfrm>
        </p:spPr>
        <p:txBody>
          <a:bodyPr/>
          <a:lstStyle/>
          <a:p>
            <a:pPr algn="ctr"/>
            <a:r>
              <a:rPr lang="es-ES" dirty="0"/>
              <a:t>Factory Predictive Maintenance</a:t>
            </a:r>
            <a:endParaRPr lang="ca-ES" dirty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9CBE648C-8E94-443A-AEDB-BD9683F2F0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s-ES" dirty="0"/>
              <a:t>Albert Olivella</a:t>
            </a:r>
            <a:endParaRPr lang="ca-ES" dirty="0"/>
          </a:p>
        </p:txBody>
      </p:sp>
      <p:sp>
        <p:nvSpPr>
          <p:cNvPr id="6" name="Título 3">
            <a:extLst>
              <a:ext uri="{FF2B5EF4-FFF2-40B4-BE49-F238E27FC236}">
                <a16:creationId xmlns:a16="http://schemas.microsoft.com/office/drawing/2014/main" id="{19E024E7-8DAB-4933-92EF-6F0179144102}"/>
              </a:ext>
            </a:extLst>
          </p:cNvPr>
          <p:cNvSpPr txBox="1">
            <a:spLocks/>
          </p:cNvSpPr>
          <p:nvPr/>
        </p:nvSpPr>
        <p:spPr>
          <a:xfrm>
            <a:off x="1876424" y="2618510"/>
            <a:ext cx="8791575" cy="4281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2000" dirty="0" err="1"/>
              <a:t>Predicting Mechanical &amp; Electrical failures 30 minutes ahead</a:t>
            </a:r>
            <a:endParaRPr lang="ca-ES" sz="2000" dirty="0"/>
          </a:p>
        </p:txBody>
      </p:sp>
    </p:spTree>
    <p:extLst>
      <p:ext uri="{BB962C8B-B14F-4D97-AF65-F5344CB8AC3E}">
        <p14:creationId xmlns:p14="http://schemas.microsoft.com/office/powerpoint/2010/main" val="1167118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earn Web Development, Data Analytics &amp; UX/UI Design | Ironhack">
            <a:extLst>
              <a:ext uri="{FF2B5EF4-FFF2-40B4-BE49-F238E27FC236}">
                <a16:creationId xmlns:a16="http://schemas.microsoft.com/office/drawing/2014/main" id="{5E01E9BE-6179-4E9B-AFDA-54077CD7E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5556" y="85897"/>
            <a:ext cx="867122" cy="937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hape 2">
            <a:extLst>
              <a:ext uri="{FF2B5EF4-FFF2-40B4-BE49-F238E27FC236}">
                <a16:creationId xmlns:a16="http://schemas.microsoft.com/office/drawing/2014/main" id="{6FF43B75-5A6A-492F-A955-51ABD1B4D013}"/>
              </a:ext>
            </a:extLst>
          </p:cNvPr>
          <p:cNvSpPr/>
          <p:nvPr/>
        </p:nvSpPr>
        <p:spPr>
          <a:xfrm>
            <a:off x="1837113" y="1704109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s-ES" dirty="0" err="1">
                <a:solidFill>
                  <a:schemeClr val="bg1"/>
                </a:solidFill>
              </a:rPr>
              <a:t>Objective:</a:t>
            </a:r>
            <a:endParaRPr lang="ca-ES" dirty="0">
              <a:solidFill>
                <a:schemeClr val="bg1"/>
              </a:solidFill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6E7DD86-7604-417B-B2CB-2A7CE3363F2C}"/>
              </a:ext>
            </a:extLst>
          </p:cNvPr>
          <p:cNvSpPr/>
          <p:nvPr/>
        </p:nvSpPr>
        <p:spPr>
          <a:xfrm>
            <a:off x="6180513" y="1704109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Data </a:t>
            </a:r>
            <a:r>
              <a:rPr lang="es-ES" dirty="0" err="1">
                <a:solidFill>
                  <a:schemeClr val="bg1"/>
                </a:solidFill>
              </a:rPr>
              <a:t>Exploration</a:t>
            </a:r>
            <a:r>
              <a:rPr lang="es-ES" dirty="0">
                <a:solidFill>
                  <a:schemeClr val="bg1"/>
                </a:solidFill>
              </a:rPr>
              <a:t>:</a:t>
            </a:r>
            <a:endParaRPr lang="ca-ES" dirty="0">
              <a:solidFill>
                <a:schemeClr val="bg1"/>
              </a:solidFill>
            </a:endParaRPr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F6194B81-58A1-434A-B8AF-23FC246E9BBE}"/>
              </a:ext>
            </a:extLst>
          </p:cNvPr>
          <p:cNvSpPr/>
          <p:nvPr/>
        </p:nvSpPr>
        <p:spPr>
          <a:xfrm>
            <a:off x="1837113" y="2938549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Data </a:t>
            </a:r>
            <a:r>
              <a:rPr lang="es-ES" dirty="0" err="1">
                <a:solidFill>
                  <a:schemeClr val="bg1"/>
                </a:solidFill>
              </a:rPr>
              <a:t>Cleanning</a:t>
            </a:r>
            <a:r>
              <a:rPr lang="es-ES" dirty="0">
                <a:solidFill>
                  <a:schemeClr val="bg1"/>
                </a:solidFill>
              </a:rPr>
              <a:t>:</a:t>
            </a:r>
            <a:endParaRPr lang="ca-ES" dirty="0">
              <a:solidFill>
                <a:schemeClr val="bg1"/>
              </a:solidFill>
            </a:endParaRPr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20070DBF-AF85-41FD-AC7E-5AD8B3A8CAAB}"/>
              </a:ext>
            </a:extLst>
          </p:cNvPr>
          <p:cNvSpPr/>
          <p:nvPr/>
        </p:nvSpPr>
        <p:spPr>
          <a:xfrm>
            <a:off x="6180513" y="2938549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s-ES" dirty="0" err="1">
                <a:solidFill>
                  <a:schemeClr val="bg1"/>
                </a:solidFill>
              </a:rPr>
              <a:t>Feature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Engineering</a:t>
            </a:r>
            <a:r>
              <a:rPr lang="es-ES" dirty="0">
                <a:solidFill>
                  <a:schemeClr val="bg1"/>
                </a:solidFill>
              </a:rPr>
              <a:t>:</a:t>
            </a:r>
            <a:endParaRPr lang="ca-ES" dirty="0">
              <a:solidFill>
                <a:schemeClr val="bg1"/>
              </a:solidFill>
            </a:endParaRPr>
          </a:p>
        </p:txBody>
      </p:sp>
      <p:sp>
        <p:nvSpPr>
          <p:cNvPr id="13" name="Shape 18">
            <a:extLst>
              <a:ext uri="{FF2B5EF4-FFF2-40B4-BE49-F238E27FC236}">
                <a16:creationId xmlns:a16="http://schemas.microsoft.com/office/drawing/2014/main" id="{6420558B-078B-4DEB-8801-4B3703CE42FD}"/>
              </a:ext>
            </a:extLst>
          </p:cNvPr>
          <p:cNvSpPr/>
          <p:nvPr/>
        </p:nvSpPr>
        <p:spPr>
          <a:xfrm>
            <a:off x="1837113" y="4172989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s-ES" dirty="0" err="1">
                <a:solidFill>
                  <a:schemeClr val="bg1"/>
                </a:solidFill>
              </a:rPr>
              <a:t>Modelling</a:t>
            </a:r>
            <a:r>
              <a:rPr lang="es-ES" dirty="0">
                <a:solidFill>
                  <a:schemeClr val="bg1"/>
                </a:solidFill>
              </a:rPr>
              <a:t> &amp; </a:t>
            </a:r>
            <a:r>
              <a:rPr lang="es-ES" dirty="0" err="1">
                <a:solidFill>
                  <a:schemeClr val="bg1"/>
                </a:solidFill>
              </a:rPr>
              <a:t>Results</a:t>
            </a:r>
            <a:r>
              <a:rPr lang="es-ES" dirty="0">
                <a:solidFill>
                  <a:schemeClr val="bg1"/>
                </a:solidFill>
              </a:rPr>
              <a:t>:</a:t>
            </a:r>
            <a:endParaRPr lang="ca-ES" dirty="0">
              <a:solidFill>
                <a:schemeClr val="bg1"/>
              </a:solidFill>
            </a:endParaRP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F9A5BA70-E2E1-4AB8-847B-7DF9D52EC67A}"/>
              </a:ext>
            </a:extLst>
          </p:cNvPr>
          <p:cNvSpPr/>
          <p:nvPr/>
        </p:nvSpPr>
        <p:spPr>
          <a:xfrm>
            <a:off x="1988127" y="1704109"/>
            <a:ext cx="3477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DBD643C2-F24F-468E-AF71-93F191F8B29C}"/>
              </a:ext>
            </a:extLst>
          </p:cNvPr>
          <p:cNvSpPr/>
          <p:nvPr/>
        </p:nvSpPr>
        <p:spPr>
          <a:xfrm>
            <a:off x="6321829" y="1704109"/>
            <a:ext cx="3477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26CA3381-189D-4308-A4CB-025BFEAE81B4}"/>
              </a:ext>
            </a:extLst>
          </p:cNvPr>
          <p:cNvSpPr/>
          <p:nvPr/>
        </p:nvSpPr>
        <p:spPr>
          <a:xfrm>
            <a:off x="1989512" y="2938549"/>
            <a:ext cx="3477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EFEFE497-8AF3-40CC-AF7C-E61895A34D84}"/>
              </a:ext>
            </a:extLst>
          </p:cNvPr>
          <p:cNvSpPr/>
          <p:nvPr/>
        </p:nvSpPr>
        <p:spPr>
          <a:xfrm>
            <a:off x="6321828" y="2971800"/>
            <a:ext cx="3477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B94C77A7-840E-469E-9A2E-F6E55E45DAC4}"/>
              </a:ext>
            </a:extLst>
          </p:cNvPr>
          <p:cNvSpPr/>
          <p:nvPr/>
        </p:nvSpPr>
        <p:spPr>
          <a:xfrm>
            <a:off x="1988127" y="4172989"/>
            <a:ext cx="3477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8F9384E6-0905-450F-B193-9D4A3A13872B}"/>
              </a:ext>
            </a:extLst>
          </p:cNvPr>
          <p:cNvSpPr/>
          <p:nvPr/>
        </p:nvSpPr>
        <p:spPr>
          <a:xfrm>
            <a:off x="1393766" y="1023326"/>
            <a:ext cx="9404465" cy="581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13A37160-73F8-4B11-88D3-32E84DACB514}"/>
              </a:ext>
            </a:extLst>
          </p:cNvPr>
          <p:cNvSpPr/>
          <p:nvPr/>
        </p:nvSpPr>
        <p:spPr>
          <a:xfrm>
            <a:off x="4828376" y="99996"/>
            <a:ext cx="253524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Agenda:</a:t>
            </a: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7F9C6381-E307-4AE0-A6AF-D5F6EFA96BDE}"/>
              </a:ext>
            </a:extLst>
          </p:cNvPr>
          <p:cNvSpPr/>
          <p:nvPr/>
        </p:nvSpPr>
        <p:spPr>
          <a:xfrm>
            <a:off x="6180513" y="4172989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GenAI &amp; Dashboard:</a:t>
            </a:r>
            <a:endParaRPr lang="ca-ES" dirty="0">
              <a:solidFill>
                <a:schemeClr val="bg1"/>
              </a:solidFill>
            </a:endParaRPr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93BDA572-1E75-4BFC-91C5-CA60E2A931CC}"/>
              </a:ext>
            </a:extLst>
          </p:cNvPr>
          <p:cNvSpPr/>
          <p:nvPr/>
        </p:nvSpPr>
        <p:spPr>
          <a:xfrm>
            <a:off x="6331527" y="4172989"/>
            <a:ext cx="3477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2131F18C-69F3-4516-A9C2-2679122BAADC}"/>
              </a:ext>
            </a:extLst>
          </p:cNvPr>
          <p:cNvSpPr/>
          <p:nvPr/>
        </p:nvSpPr>
        <p:spPr>
          <a:xfrm>
            <a:off x="3848793" y="5407429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pPr algn="ctr"/>
            <a:r>
              <a:rPr lang="es-ES" dirty="0" err="1">
                <a:solidFill>
                  <a:schemeClr val="bg1"/>
                </a:solidFill>
              </a:rPr>
              <a:t>Conclusions:</a:t>
            </a:r>
            <a:endParaRPr lang="ca-ES" dirty="0">
              <a:solidFill>
                <a:schemeClr val="bg1"/>
              </a:solidFill>
            </a:endParaRPr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90B32A32-D40A-45D5-86CF-A3A124CE66D9}"/>
              </a:ext>
            </a:extLst>
          </p:cNvPr>
          <p:cNvSpPr/>
          <p:nvPr/>
        </p:nvSpPr>
        <p:spPr>
          <a:xfrm>
            <a:off x="3999807" y="5407429"/>
            <a:ext cx="3477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60494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earn Web Development, Data Analytics &amp; UX/UI Design | Ironhack">
            <a:extLst>
              <a:ext uri="{FF2B5EF4-FFF2-40B4-BE49-F238E27FC236}">
                <a16:creationId xmlns:a16="http://schemas.microsoft.com/office/drawing/2014/main" id="{5E01E9BE-6179-4E9B-AFDA-54077CD7E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5556" y="85897"/>
            <a:ext cx="867122" cy="937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91E00118-B49C-40D5-9A2B-B960249F409A}"/>
              </a:ext>
            </a:extLst>
          </p:cNvPr>
          <p:cNvSpPr/>
          <p:nvPr/>
        </p:nvSpPr>
        <p:spPr>
          <a:xfrm>
            <a:off x="1393766" y="1023326"/>
            <a:ext cx="9404465" cy="581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E858A2A-0C33-418C-849C-53BFDE89A632}"/>
              </a:ext>
            </a:extLst>
          </p:cNvPr>
          <p:cNvSpPr/>
          <p:nvPr/>
        </p:nvSpPr>
        <p:spPr>
          <a:xfrm>
            <a:off x="4599948" y="99996"/>
            <a:ext cx="299210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Objective</a:t>
            </a:r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18E4B1F-04F2-477A-8787-C71D49E53D58}"/>
              </a:ext>
            </a:extLst>
          </p:cNvPr>
          <p:cNvSpPr txBox="1"/>
          <p:nvPr/>
        </p:nvSpPr>
        <p:spPr>
          <a:xfrm>
            <a:off x="2563935" y="2551837"/>
            <a:ext cx="70641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Predict a Mechanical/Electrical failure 30 minutes before </a:t>
            </a:r>
            <a:r>
              <a:rPr lang="es-ES" dirty="0" err="1"/>
              <a:t>it</a:t>
            </a:r>
            <a:r>
              <a:rPr lang="es-ES" dirty="0"/>
              <a:t> </a:t>
            </a:r>
            <a:r>
              <a:rPr lang="es-ES" dirty="0" err="1"/>
              <a:t>happens</a:t>
            </a:r>
            <a:r>
              <a:rPr lang="es-ES" dirty="0"/>
              <a:t>:</a:t>
            </a:r>
          </a:p>
          <a:p>
            <a:pPr marL="800100" lvl="1" indent="-342900">
              <a:buFont typeface="+mj-lt"/>
              <a:buAutoNum type="arabicPeriod"/>
            </a:pPr>
            <a:r>
              <a:rPr lang="es-ES" dirty="0" err="1"/>
              <a:t>Build</a:t>
            </a:r>
            <a:r>
              <a:rPr lang="es-ES" dirty="0"/>
              <a:t> a </a:t>
            </a:r>
            <a:r>
              <a:rPr lang="es-ES" dirty="0" err="1"/>
              <a:t>synthetic</a:t>
            </a:r>
            <a:r>
              <a:rPr lang="es-ES" dirty="0"/>
              <a:t> </a:t>
            </a:r>
            <a:r>
              <a:rPr lang="es-ES" dirty="0" err="1"/>
              <a:t>simulator</a:t>
            </a:r>
            <a:r>
              <a:rPr lang="es-ES" dirty="0"/>
              <a:t> and </a:t>
            </a:r>
            <a:r>
              <a:rPr lang="es-ES" dirty="0" err="1"/>
              <a:t>train</a:t>
            </a:r>
            <a:r>
              <a:rPr lang="es-ES" dirty="0"/>
              <a:t> per-</a:t>
            </a:r>
            <a:r>
              <a:rPr lang="es-ES" dirty="0" err="1"/>
              <a:t>station</a:t>
            </a:r>
            <a:r>
              <a:rPr lang="es-ES" dirty="0"/>
              <a:t> ML </a:t>
            </a:r>
            <a:r>
              <a:rPr lang="es-ES" dirty="0" err="1"/>
              <a:t>models</a:t>
            </a:r>
            <a:r>
              <a:rPr lang="es-ES" dirty="0"/>
              <a:t> (</a:t>
            </a:r>
            <a:r>
              <a:rPr lang="es-ES" dirty="0" err="1"/>
              <a:t>Random</a:t>
            </a:r>
            <a:r>
              <a:rPr lang="es-ES" dirty="0"/>
              <a:t> Forest vs </a:t>
            </a:r>
            <a:r>
              <a:rPr lang="es-ES" dirty="0" err="1"/>
              <a:t>XGBoost</a:t>
            </a:r>
            <a:r>
              <a:rPr lang="es-ES" dirty="0"/>
              <a:t>.</a:t>
            </a:r>
          </a:p>
          <a:p>
            <a:pPr marL="800100" lvl="1" indent="-342900">
              <a:buFont typeface="+mj-lt"/>
              <a:buAutoNum type="arabicPeriod"/>
            </a:pPr>
            <a:r>
              <a:rPr lang="es-ES" dirty="0" err="1"/>
              <a:t>Wrap the results in a GenAI-powered dashboard for real-time decision support.</a:t>
            </a:r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81386E12-880E-4A87-9C58-72230817ED1D}"/>
              </a:ext>
            </a:extLst>
          </p:cNvPr>
          <p:cNvSpPr/>
          <p:nvPr/>
        </p:nvSpPr>
        <p:spPr>
          <a:xfrm>
            <a:off x="232756" y="216528"/>
            <a:ext cx="989213" cy="690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990005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earn Web Development, Data Analytics &amp; UX/UI Design | Ironhack">
            <a:extLst>
              <a:ext uri="{FF2B5EF4-FFF2-40B4-BE49-F238E27FC236}">
                <a16:creationId xmlns:a16="http://schemas.microsoft.com/office/drawing/2014/main" id="{5E01E9BE-6179-4E9B-AFDA-54077CD7E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5556" y="85897"/>
            <a:ext cx="867122" cy="937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91E00118-B49C-40D5-9A2B-B960249F409A}"/>
              </a:ext>
            </a:extLst>
          </p:cNvPr>
          <p:cNvSpPr/>
          <p:nvPr/>
        </p:nvSpPr>
        <p:spPr>
          <a:xfrm>
            <a:off x="1393766" y="1023326"/>
            <a:ext cx="9404465" cy="581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a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E858A2A-0C33-418C-849C-53BFDE89A632}"/>
              </a:ext>
            </a:extLst>
          </p:cNvPr>
          <p:cNvSpPr/>
          <p:nvPr/>
        </p:nvSpPr>
        <p:spPr>
          <a:xfrm>
            <a:off x="3585701" y="99996"/>
            <a:ext cx="502060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40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Tw Cen MT" panose="020B0602020104020603"/>
                <a:ea typeface="+mn-ea"/>
                <a:cs typeface="+mn-cs"/>
              </a:rPr>
              <a:t>Data Exploration: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18E4B1F-04F2-477A-8787-C71D49E53D58}"/>
              </a:ext>
            </a:extLst>
          </p:cNvPr>
          <p:cNvSpPr txBox="1"/>
          <p:nvPr/>
        </p:nvSpPr>
        <p:spPr>
          <a:xfrm>
            <a:off x="1759788" y="1494802"/>
            <a:ext cx="535558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345,600 rows × 25 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columns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s-E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8 stations × 30 days × 1,440 min/</a:t>
            </a:r>
            <a:r>
              <a:rPr kumimoji="0" lang="es-ES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day</a:t>
            </a:r>
            <a:r>
              <a:rPr kumimoji="0" lang="es-E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>
                <a:solidFill>
                  <a:prstClr val="white"/>
                </a:solidFill>
                <a:latin typeface="Tw Cen MT" panose="020B0602020104020603"/>
              </a:rPr>
              <a:t>Stations</a:t>
            </a:r>
            <a:r>
              <a:rPr lang="es-ES" dirty="0">
                <a:solidFill>
                  <a:prstClr val="white"/>
                </a:solidFill>
                <a:latin typeface="Tw Cen MT" panose="020B0602020104020603"/>
              </a:rPr>
              <a:t>:		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prstClr val="white"/>
                </a:solidFill>
                <a:latin typeface="Tw Cen MT" panose="020B0602020104020603"/>
              </a:rPr>
              <a:t>ST1: </a:t>
            </a:r>
            <a:r>
              <a:rPr lang="es-ES" dirty="0" err="1">
                <a:solidFill>
                  <a:prstClr val="white"/>
                </a:solidFill>
                <a:latin typeface="Tw Cen MT" panose="020B0602020104020603"/>
              </a:rPr>
              <a:t>Robotics</a:t>
            </a:r>
            <a:r>
              <a:rPr lang="es-ES" dirty="0">
                <a:solidFill>
                  <a:prstClr val="white"/>
                </a:solidFill>
                <a:latin typeface="Tw Cen MT" panose="020B0602020104020603"/>
              </a:rPr>
              <a:t> – ST4: </a:t>
            </a:r>
            <a:r>
              <a:rPr lang="es-ES" dirty="0" err="1">
                <a:solidFill>
                  <a:prstClr val="white"/>
                </a:solidFill>
                <a:latin typeface="Tw Cen MT" panose="020B0602020104020603"/>
              </a:rPr>
              <a:t>Assembly</a:t>
            </a:r>
            <a:r>
              <a:rPr lang="es-ES" dirty="0">
                <a:solidFill>
                  <a:prstClr val="white"/>
                </a:solidFill>
                <a:latin typeface="Tw Cen MT" panose="020B0602020104020603"/>
              </a:rPr>
              <a:t> – ST7: </a:t>
            </a:r>
            <a:r>
              <a:rPr lang="es-ES" dirty="0" err="1">
                <a:solidFill>
                  <a:prstClr val="white"/>
                </a:solidFill>
                <a:latin typeface="Tw Cen MT" panose="020B0602020104020603"/>
              </a:rPr>
              <a:t>Inspection</a:t>
            </a:r>
            <a:r>
              <a:rPr lang="es-ES" dirty="0">
                <a:solidFill>
                  <a:prstClr val="white"/>
                </a:solidFill>
                <a:latin typeface="Tw Cen MT" panose="020B0602020104020603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prstClr val="white"/>
                </a:solidFill>
                <a:latin typeface="Tw Cen MT" panose="020B0602020104020603"/>
              </a:rPr>
              <a:t>ST2: CNC – ST5: </a:t>
            </a:r>
            <a:r>
              <a:rPr lang="es-ES" dirty="0" err="1">
                <a:solidFill>
                  <a:prstClr val="white"/>
                </a:solidFill>
                <a:latin typeface="Tw Cen MT" panose="020B0602020104020603"/>
              </a:rPr>
              <a:t>Welding</a:t>
            </a:r>
            <a:r>
              <a:rPr lang="es-ES" dirty="0">
                <a:solidFill>
                  <a:prstClr val="white"/>
                </a:solidFill>
                <a:latin typeface="Tw Cen MT" panose="020B0602020104020603"/>
              </a:rPr>
              <a:t> – ST8: </a:t>
            </a:r>
            <a:r>
              <a:rPr lang="es-ES" dirty="0" err="1">
                <a:solidFill>
                  <a:prstClr val="white"/>
                </a:solidFill>
                <a:latin typeface="Tw Cen MT" panose="020B0602020104020603"/>
              </a:rPr>
              <a:t>Packaging</a:t>
            </a:r>
            <a:r>
              <a:rPr lang="es-ES" dirty="0">
                <a:solidFill>
                  <a:prstClr val="white"/>
                </a:solidFill>
                <a:latin typeface="Tw Cen MT" panose="020B0602020104020603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prstClr val="white"/>
                </a:solidFill>
                <a:latin typeface="Tw Cen MT" panose="020B0602020104020603"/>
              </a:rPr>
              <a:t>ST3: </a:t>
            </a:r>
            <a:r>
              <a:rPr lang="es-ES" dirty="0" err="1">
                <a:solidFill>
                  <a:prstClr val="white"/>
                </a:solidFill>
                <a:latin typeface="Tw Cen MT" panose="020B0602020104020603"/>
              </a:rPr>
              <a:t>Robotics</a:t>
            </a:r>
            <a:r>
              <a:rPr lang="es-ES" dirty="0">
                <a:solidFill>
                  <a:prstClr val="white"/>
                </a:solidFill>
                <a:latin typeface="Tw Cen MT" panose="020B0602020104020603"/>
              </a:rPr>
              <a:t> – ST6: </a:t>
            </a:r>
            <a:r>
              <a:rPr lang="es-ES" dirty="0" err="1">
                <a:solidFill>
                  <a:prstClr val="white"/>
                </a:solidFill>
                <a:latin typeface="Tw Cen MT" panose="020B0602020104020603"/>
              </a:rPr>
              <a:t>Cooling</a:t>
            </a:r>
            <a:r>
              <a:rPr lang="es-ES" dirty="0">
                <a:solidFill>
                  <a:prstClr val="white"/>
                </a:solidFill>
                <a:latin typeface="Tw Cen MT" panose="020B0602020104020603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s-ES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Failures</a:t>
            </a:r>
            <a:r>
              <a:rPr kumimoji="0" lang="es-E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Cause: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 err="1">
                <a:solidFill>
                  <a:prstClr val="white"/>
                </a:solidFill>
                <a:latin typeface="Tw Cen MT" panose="020B0602020104020603"/>
              </a:rPr>
              <a:t>Process</a:t>
            </a:r>
            <a:r>
              <a:rPr lang="es-ES" dirty="0">
                <a:solidFill>
                  <a:prstClr val="white"/>
                </a:solidFill>
                <a:latin typeface="Tw Cen MT" panose="020B0602020104020603"/>
              </a:rPr>
              <a:t> </a:t>
            </a:r>
            <a:r>
              <a:rPr lang="es-ES" dirty="0" err="1">
                <a:solidFill>
                  <a:prstClr val="white"/>
                </a:solidFill>
                <a:latin typeface="Tw Cen MT" panose="020B0602020104020603"/>
              </a:rPr>
              <a:t>Failures</a:t>
            </a:r>
            <a:r>
              <a:rPr lang="es-ES" dirty="0">
                <a:solidFill>
                  <a:prstClr val="white"/>
                </a:solidFill>
                <a:latin typeface="Tw Cen MT" panose="020B0602020104020603"/>
              </a:rPr>
              <a:t>: (</a:t>
            </a:r>
            <a:r>
              <a:rPr lang="es-ES" dirty="0" err="1">
                <a:solidFill>
                  <a:prstClr val="white"/>
                </a:solidFill>
                <a:latin typeface="Tw Cen MT" panose="020B0602020104020603"/>
              </a:rPr>
              <a:t>Out</a:t>
            </a:r>
            <a:r>
              <a:rPr lang="es-ES" dirty="0">
                <a:solidFill>
                  <a:prstClr val="white"/>
                </a:solidFill>
                <a:latin typeface="Tw Cen MT" panose="020B0602020104020603"/>
              </a:rPr>
              <a:t> </a:t>
            </a:r>
            <a:r>
              <a:rPr lang="es-ES" dirty="0" err="1">
                <a:solidFill>
                  <a:prstClr val="white"/>
                </a:solidFill>
                <a:latin typeface="Tw Cen MT" panose="020B0602020104020603"/>
              </a:rPr>
              <a:t>of</a:t>
            </a:r>
            <a:r>
              <a:rPr lang="es-ES" dirty="0">
                <a:solidFill>
                  <a:prstClr val="white"/>
                </a:solidFill>
                <a:latin typeface="Tw Cen MT" panose="020B0602020104020603"/>
              </a:rPr>
              <a:t> </a:t>
            </a:r>
            <a:r>
              <a:rPr lang="es-ES" dirty="0" err="1">
                <a:solidFill>
                  <a:prstClr val="white"/>
                </a:solidFill>
                <a:latin typeface="Tw Cen MT" panose="020B0602020104020603"/>
              </a:rPr>
              <a:t>Scope</a:t>
            </a:r>
            <a:r>
              <a:rPr lang="es-ES" dirty="0">
                <a:solidFill>
                  <a:prstClr val="white"/>
                </a:solidFill>
                <a:latin typeface="Tw Cen MT" panose="020B0602020104020603"/>
              </a:rPr>
              <a:t>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s-ES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Changeover</a:t>
            </a:r>
            <a:r>
              <a:rPr kumimoji="0" lang="es-E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, </a:t>
            </a:r>
            <a:r>
              <a:rPr kumimoji="0" lang="es-ES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Blocked</a:t>
            </a:r>
            <a:r>
              <a:rPr kumimoji="0" lang="es-E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, </a:t>
            </a:r>
            <a:r>
              <a:rPr kumimoji="0" lang="es-ES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Starved</a:t>
            </a:r>
            <a:r>
              <a:rPr kumimoji="0" lang="es-E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, </a:t>
            </a:r>
            <a:r>
              <a:rPr kumimoji="0" lang="es-ES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Quality</a:t>
            </a:r>
            <a:r>
              <a:rPr kumimoji="0" lang="es-E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s-ES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Functionality</a:t>
            </a:r>
            <a:r>
              <a:rPr kumimoji="0" lang="es-E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</a:t>
            </a:r>
            <a:r>
              <a:rPr kumimoji="0" lang="es-ES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Failures</a:t>
            </a:r>
            <a:r>
              <a:rPr kumimoji="0" lang="es-E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s-ES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Mechanical</a:t>
            </a:r>
            <a:r>
              <a:rPr lang="es-ES" dirty="0">
                <a:solidFill>
                  <a:prstClr val="white"/>
                </a:solidFill>
                <a:latin typeface="Tw Cen MT" panose="020B0602020104020603"/>
              </a:rPr>
              <a:t>: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kumimoji="0" lang="es-ES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Vibration</a:t>
            </a:r>
            <a:r>
              <a:rPr kumimoji="0" lang="es-E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, Air </a:t>
            </a:r>
            <a:r>
              <a:rPr kumimoji="0" lang="es-ES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Pressure</a:t>
            </a:r>
            <a:r>
              <a:rPr kumimoji="0" lang="es-E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, </a:t>
            </a:r>
            <a:r>
              <a:rPr kumimoji="0" lang="es-ES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Humidity</a:t>
            </a:r>
            <a:r>
              <a:rPr kumimoji="0" lang="es-E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s-ES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Electrical</a:t>
            </a:r>
            <a:r>
              <a:rPr kumimoji="0" lang="es-E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: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s-ES" dirty="0" err="1">
                <a:solidFill>
                  <a:prstClr val="white"/>
                </a:solidFill>
                <a:latin typeface="Tw Cen MT" panose="020B0602020104020603"/>
              </a:rPr>
              <a:t>Temperature</a:t>
            </a:r>
            <a:r>
              <a:rPr lang="es-ES" dirty="0">
                <a:solidFill>
                  <a:prstClr val="white"/>
                </a:solidFill>
                <a:latin typeface="Tw Cen MT" panose="020B0602020104020603"/>
              </a:rPr>
              <a:t>, Energy </a:t>
            </a:r>
            <a:r>
              <a:rPr lang="es-ES" dirty="0" err="1">
                <a:solidFill>
                  <a:prstClr val="white"/>
                </a:solidFill>
                <a:latin typeface="Tw Cen MT" panose="020B0602020104020603"/>
              </a:rPr>
              <a:t>Consumption</a:t>
            </a:r>
            <a:r>
              <a:rPr lang="es-ES" dirty="0">
                <a:solidFill>
                  <a:prstClr val="white"/>
                </a:solidFill>
                <a:latin typeface="Tw Cen MT" panose="020B0602020104020603"/>
              </a:rPr>
              <a:t>.</a:t>
            </a:r>
            <a:br>
              <a:rPr lang="es-ES" dirty="0">
                <a:solidFill>
                  <a:prstClr val="white"/>
                </a:solidFill>
                <a:latin typeface="Tw Cen MT" panose="020B0602020104020603"/>
              </a:rPr>
            </a:br>
            <a:r>
              <a:rPr lang="es-ES" dirty="0">
                <a:solidFill>
                  <a:prstClr val="white"/>
                </a:solidFill>
                <a:latin typeface="Tw Cen MT" panose="020B0602020104020603"/>
              </a:rPr>
              <a:t> </a:t>
            </a:r>
            <a:endParaRPr kumimoji="0" lang="es-E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pPr marL="0" marR="0" lvl="1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81386E12-880E-4A87-9C58-72230817ED1D}"/>
              </a:ext>
            </a:extLst>
          </p:cNvPr>
          <p:cNvSpPr/>
          <p:nvPr/>
        </p:nvSpPr>
        <p:spPr>
          <a:xfrm>
            <a:off x="232756" y="216528"/>
            <a:ext cx="989213" cy="690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E07B39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589925B-712F-67E5-8052-50D109CE2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5114" y="1494802"/>
            <a:ext cx="3393117" cy="4624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281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earn Web Development, Data Analytics &amp; UX/UI Design | Ironhack">
            <a:extLst>
              <a:ext uri="{FF2B5EF4-FFF2-40B4-BE49-F238E27FC236}">
                <a16:creationId xmlns:a16="http://schemas.microsoft.com/office/drawing/2014/main" id="{5E01E9BE-6179-4E9B-AFDA-54077CD7E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5556" y="85897"/>
            <a:ext cx="867122" cy="937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91E00118-B49C-40D5-9A2B-B960249F409A}"/>
              </a:ext>
            </a:extLst>
          </p:cNvPr>
          <p:cNvSpPr/>
          <p:nvPr/>
        </p:nvSpPr>
        <p:spPr>
          <a:xfrm>
            <a:off x="1393766" y="1023326"/>
            <a:ext cx="9404465" cy="581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a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E858A2A-0C33-418C-849C-53BFDE89A632}"/>
              </a:ext>
            </a:extLst>
          </p:cNvPr>
          <p:cNvSpPr/>
          <p:nvPr/>
        </p:nvSpPr>
        <p:spPr>
          <a:xfrm>
            <a:off x="3777101" y="99996"/>
            <a:ext cx="463780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40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Tw Cen MT" panose="020B0602020104020603"/>
                <a:ea typeface="+mn-ea"/>
                <a:cs typeface="+mn-cs"/>
              </a:rPr>
              <a:t>Data </a:t>
            </a:r>
            <a:r>
              <a:rPr kumimoji="0" lang="es-ES" sz="5400" b="0" i="0" u="none" strike="noStrike" kern="1200" cap="none" spc="0" normalizeH="0" baseline="0" noProof="0" dirty="0" err="1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Tw Cen MT" panose="020B0602020104020603"/>
                <a:ea typeface="+mn-ea"/>
                <a:cs typeface="+mn-cs"/>
              </a:rPr>
              <a:t>Cleanning</a:t>
            </a:r>
            <a:r>
              <a:rPr kumimoji="0" lang="es-ES" sz="540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Tw Cen MT" panose="020B0602020104020603"/>
                <a:ea typeface="+mn-ea"/>
                <a:cs typeface="+mn-cs"/>
              </a:rPr>
              <a:t>:</a:t>
            </a:r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81386E12-880E-4A87-9C58-72230817ED1D}"/>
              </a:ext>
            </a:extLst>
          </p:cNvPr>
          <p:cNvSpPr/>
          <p:nvPr/>
        </p:nvSpPr>
        <p:spPr>
          <a:xfrm>
            <a:off x="232756" y="216528"/>
            <a:ext cx="989213" cy="690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E07B39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F2DF5EC-35D5-CBCC-9CDF-B512E5EA7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8136" y="1190607"/>
            <a:ext cx="5675721" cy="364079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4A22035-7390-7BE5-2089-CFE379D864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864" y="5044322"/>
            <a:ext cx="3596272" cy="158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479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earn Web Development, Data Analytics &amp; UX/UI Design | Ironhack">
            <a:extLst>
              <a:ext uri="{FF2B5EF4-FFF2-40B4-BE49-F238E27FC236}">
                <a16:creationId xmlns:a16="http://schemas.microsoft.com/office/drawing/2014/main" id="{5E01E9BE-6179-4E9B-AFDA-54077CD7E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5556" y="85897"/>
            <a:ext cx="867122" cy="937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91E00118-B49C-40D5-9A2B-B960249F409A}"/>
              </a:ext>
            </a:extLst>
          </p:cNvPr>
          <p:cNvSpPr/>
          <p:nvPr/>
        </p:nvSpPr>
        <p:spPr>
          <a:xfrm>
            <a:off x="1393766" y="1023326"/>
            <a:ext cx="9404465" cy="581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a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E858A2A-0C33-418C-849C-53BFDE89A632}"/>
              </a:ext>
            </a:extLst>
          </p:cNvPr>
          <p:cNvSpPr/>
          <p:nvPr/>
        </p:nvSpPr>
        <p:spPr>
          <a:xfrm>
            <a:off x="3777101" y="99996"/>
            <a:ext cx="463780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40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Tw Cen MT" panose="020B0602020104020603"/>
                <a:ea typeface="+mn-ea"/>
                <a:cs typeface="+mn-cs"/>
              </a:rPr>
              <a:t>Data </a:t>
            </a:r>
            <a:r>
              <a:rPr kumimoji="0" lang="es-ES" sz="5400" b="0" i="0" u="none" strike="noStrike" kern="1200" cap="none" spc="0" normalizeH="0" baseline="0" noProof="0" dirty="0" err="1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Tw Cen MT" panose="020B0602020104020603"/>
                <a:ea typeface="+mn-ea"/>
                <a:cs typeface="+mn-cs"/>
              </a:rPr>
              <a:t>Cleanning</a:t>
            </a:r>
            <a:r>
              <a:rPr kumimoji="0" lang="es-ES" sz="540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Tw Cen MT" panose="020B0602020104020603"/>
                <a:ea typeface="+mn-ea"/>
                <a:cs typeface="+mn-cs"/>
              </a:rPr>
              <a:t>: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18E4B1F-04F2-477A-8787-C71D49E53D58}"/>
              </a:ext>
            </a:extLst>
          </p:cNvPr>
          <p:cNvSpPr txBox="1"/>
          <p:nvPr/>
        </p:nvSpPr>
        <p:spPr>
          <a:xfrm>
            <a:off x="1759789" y="1339908"/>
            <a:ext cx="49688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Split 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Initial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df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to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df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for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each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ST.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s-ES" dirty="0" err="1">
                <a:solidFill>
                  <a:prstClr val="white"/>
                </a:solidFill>
                <a:latin typeface="Tw Cen MT" panose="020B0602020104020603"/>
              </a:rPr>
              <a:t>Each</a:t>
            </a:r>
            <a:r>
              <a:rPr lang="es-ES" dirty="0">
                <a:solidFill>
                  <a:prstClr val="white"/>
                </a:solidFill>
                <a:latin typeface="Tw Cen MT" panose="020B0602020104020603"/>
              </a:rPr>
              <a:t> ST has </a:t>
            </a:r>
            <a:r>
              <a:rPr lang="es-ES" dirty="0" err="1">
                <a:solidFill>
                  <a:prstClr val="white"/>
                </a:solidFill>
                <a:latin typeface="Tw Cen MT" panose="020B0602020104020603"/>
              </a:rPr>
              <a:t>its</a:t>
            </a:r>
            <a:r>
              <a:rPr lang="es-ES" dirty="0">
                <a:solidFill>
                  <a:prstClr val="white"/>
                </a:solidFill>
                <a:latin typeface="Tw Cen MT" panose="020B0602020104020603"/>
              </a:rPr>
              <a:t> </a:t>
            </a:r>
            <a:r>
              <a:rPr lang="es-ES" dirty="0" err="1">
                <a:solidFill>
                  <a:prstClr val="white"/>
                </a:solidFill>
                <a:latin typeface="Tw Cen MT" panose="020B0602020104020603"/>
              </a:rPr>
              <a:t>owns</a:t>
            </a:r>
            <a:r>
              <a:rPr lang="es-ES" dirty="0">
                <a:solidFill>
                  <a:prstClr val="white"/>
                </a:solidFill>
                <a:latin typeface="Tw Cen MT" panose="020B0602020104020603"/>
              </a:rPr>
              <a:t> </a:t>
            </a:r>
            <a:r>
              <a:rPr lang="es-ES" dirty="0" err="1">
                <a:solidFill>
                  <a:prstClr val="white"/>
                </a:solidFill>
                <a:latin typeface="Tw Cen MT" panose="020B0602020104020603"/>
              </a:rPr>
              <a:t>sensors</a:t>
            </a:r>
            <a:r>
              <a:rPr lang="es-ES" dirty="0">
                <a:solidFill>
                  <a:prstClr val="white"/>
                </a:solidFill>
                <a:latin typeface="Tw Cen MT" panose="020B0602020104020603"/>
              </a:rPr>
              <a:t>.</a:t>
            </a:r>
            <a:br>
              <a:rPr lang="es-ES" dirty="0">
                <a:solidFill>
                  <a:prstClr val="white"/>
                </a:solidFill>
                <a:latin typeface="Tw Cen MT" panose="020B0602020104020603"/>
              </a:rPr>
            </a:br>
            <a:r>
              <a:rPr lang="es-ES" dirty="0" err="1">
                <a:solidFill>
                  <a:prstClr val="white"/>
                </a:solidFill>
                <a:latin typeface="Tw Cen MT" panose="020B0602020104020603"/>
              </a:rPr>
              <a:t>Feature</a:t>
            </a:r>
            <a:r>
              <a:rPr lang="es-ES" dirty="0">
                <a:solidFill>
                  <a:prstClr val="white"/>
                </a:solidFill>
                <a:latin typeface="Tw Cen MT" panose="020B0602020104020603"/>
              </a:rPr>
              <a:t> </a:t>
            </a:r>
            <a:r>
              <a:rPr lang="es-ES" dirty="0" err="1">
                <a:solidFill>
                  <a:prstClr val="white"/>
                </a:solidFill>
                <a:latin typeface="Tw Cen MT" panose="020B0602020104020603"/>
              </a:rPr>
              <a:t>Sensors</a:t>
            </a:r>
            <a:r>
              <a:rPr lang="es-ES" dirty="0">
                <a:solidFill>
                  <a:prstClr val="white"/>
                </a:solidFill>
                <a:latin typeface="Tw Cen MT" panose="020B0602020104020603"/>
              </a:rPr>
              <a:t> </a:t>
            </a:r>
            <a:r>
              <a:rPr lang="es-ES" dirty="0" err="1">
                <a:solidFill>
                  <a:prstClr val="white"/>
                </a:solidFill>
                <a:latin typeface="Tw Cen MT" panose="020B0602020104020603"/>
              </a:rPr>
              <a:t>not</a:t>
            </a:r>
            <a:r>
              <a:rPr lang="es-ES" dirty="0">
                <a:solidFill>
                  <a:prstClr val="white"/>
                </a:solidFill>
                <a:latin typeface="Tw Cen MT" panose="020B0602020104020603"/>
              </a:rPr>
              <a:t> in ST are </a:t>
            </a:r>
            <a:r>
              <a:rPr lang="es-ES" dirty="0" err="1">
                <a:solidFill>
                  <a:prstClr val="white"/>
                </a:solidFill>
                <a:latin typeface="Tw Cen MT" panose="020B0602020104020603"/>
              </a:rPr>
              <a:t>deleted</a:t>
            </a:r>
            <a:r>
              <a:rPr lang="es-ES" dirty="0">
                <a:solidFill>
                  <a:prstClr val="white"/>
                </a:solidFill>
                <a:latin typeface="Tw Cen MT" panose="020B0602020104020603"/>
              </a:rPr>
              <a:t>.</a:t>
            </a:r>
            <a:endParaRPr kumimoji="0" lang="es-E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81386E12-880E-4A87-9C58-72230817ED1D}"/>
              </a:ext>
            </a:extLst>
          </p:cNvPr>
          <p:cNvSpPr/>
          <p:nvPr/>
        </p:nvSpPr>
        <p:spPr>
          <a:xfrm>
            <a:off x="232756" y="216528"/>
            <a:ext cx="989213" cy="690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E07B39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4D38FFC-DEBF-CAB9-BAC6-6B65FF4D46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766" y="2745633"/>
            <a:ext cx="3942817" cy="3882714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B033C0D8-ED17-0CC1-2909-C0F037567F33}"/>
              </a:ext>
            </a:extLst>
          </p:cNvPr>
          <p:cNvSpPr txBox="1"/>
          <p:nvPr/>
        </p:nvSpPr>
        <p:spPr>
          <a:xfrm flipH="1">
            <a:off x="3089129" y="2397217"/>
            <a:ext cx="552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ST1</a:t>
            </a:r>
            <a:endParaRPr kumimoji="0" lang="es-E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99C93B4-7712-4AAF-9F8E-E1BA9AC067EF}"/>
              </a:ext>
            </a:extLst>
          </p:cNvPr>
          <p:cNvSpPr txBox="1"/>
          <p:nvPr/>
        </p:nvSpPr>
        <p:spPr>
          <a:xfrm flipH="1">
            <a:off x="8574992" y="2397217"/>
            <a:ext cx="552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ST8</a:t>
            </a:r>
            <a:endParaRPr kumimoji="0" lang="es-E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9EA86AB-8263-F2F2-6A44-8EA687D7A8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462" y="2745633"/>
            <a:ext cx="4217148" cy="315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49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earn Web Development, Data Analytics &amp; UX/UI Design | Ironhack">
            <a:extLst>
              <a:ext uri="{FF2B5EF4-FFF2-40B4-BE49-F238E27FC236}">
                <a16:creationId xmlns:a16="http://schemas.microsoft.com/office/drawing/2014/main" id="{5E01E9BE-6179-4E9B-AFDA-54077CD7E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5556" y="85897"/>
            <a:ext cx="867122" cy="937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91E00118-B49C-40D5-9A2B-B960249F409A}"/>
              </a:ext>
            </a:extLst>
          </p:cNvPr>
          <p:cNvSpPr/>
          <p:nvPr/>
        </p:nvSpPr>
        <p:spPr>
          <a:xfrm>
            <a:off x="1393766" y="1023326"/>
            <a:ext cx="9404465" cy="581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E858A2A-0C33-418C-849C-53BFDE89A632}"/>
              </a:ext>
            </a:extLst>
          </p:cNvPr>
          <p:cNvSpPr/>
          <p:nvPr/>
        </p:nvSpPr>
        <p:spPr>
          <a:xfrm>
            <a:off x="3258243" y="99996"/>
            <a:ext cx="567552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Feature Engineering:</a:t>
            </a:r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81386E12-880E-4A87-9C58-72230817ED1D}"/>
              </a:ext>
            </a:extLst>
          </p:cNvPr>
          <p:cNvSpPr/>
          <p:nvPr/>
        </p:nvSpPr>
        <p:spPr>
          <a:xfrm>
            <a:off x="232756" y="216528"/>
            <a:ext cx="989213" cy="690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54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08CBE4B-9E9C-B49F-510E-4B7AF5E46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444" y="1688498"/>
            <a:ext cx="4793997" cy="215906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940C14F-4164-A52E-0C58-5F5841F711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7153" y="1688498"/>
            <a:ext cx="4798403" cy="215906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0CE26EE-3988-9031-8B91-B4FE79A16A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444" y="4089971"/>
            <a:ext cx="4798403" cy="215906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B3317C8-B7D2-9F92-BCFE-6587BCD8A3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1559" y="4091953"/>
            <a:ext cx="4793997" cy="2157079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A1BF1D1B-A69D-3DB3-0B22-9B4EA4357544}"/>
              </a:ext>
            </a:extLst>
          </p:cNvPr>
          <p:cNvSpPr txBox="1"/>
          <p:nvPr/>
        </p:nvSpPr>
        <p:spPr>
          <a:xfrm>
            <a:off x="1651458" y="1124832"/>
            <a:ext cx="888907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dirty="0">
                <a:highlight>
                  <a:srgbClr val="000000"/>
                </a:highlight>
              </a:rPr>
              <a:t>Find when the fail is triggered for each ST.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23346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earn Web Development, Data Analytics &amp; UX/UI Design | Ironhack">
            <a:extLst>
              <a:ext uri="{FF2B5EF4-FFF2-40B4-BE49-F238E27FC236}">
                <a16:creationId xmlns:a16="http://schemas.microsoft.com/office/drawing/2014/main" id="{5E01E9BE-6179-4E9B-AFDA-54077CD7E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5556" y="85897"/>
            <a:ext cx="867122" cy="937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91E00118-B49C-40D5-9A2B-B960249F409A}"/>
              </a:ext>
            </a:extLst>
          </p:cNvPr>
          <p:cNvSpPr/>
          <p:nvPr/>
        </p:nvSpPr>
        <p:spPr>
          <a:xfrm>
            <a:off x="1393766" y="1023326"/>
            <a:ext cx="9404465" cy="581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E858A2A-0C33-418C-849C-53BFDE89A632}"/>
              </a:ext>
            </a:extLst>
          </p:cNvPr>
          <p:cNvSpPr/>
          <p:nvPr/>
        </p:nvSpPr>
        <p:spPr>
          <a:xfrm>
            <a:off x="3258243" y="99996"/>
            <a:ext cx="567552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Feature Engineering: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18E4B1F-04F2-477A-8787-C71D49E53D58}"/>
              </a:ext>
            </a:extLst>
          </p:cNvPr>
          <p:cNvSpPr txBox="1"/>
          <p:nvPr/>
        </p:nvSpPr>
        <p:spPr>
          <a:xfrm>
            <a:off x="2299236" y="4090909"/>
            <a:ext cx="759352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Define the target: Look 30 minutes AHEAD, if a failure occurs at any point within that window, target = 1.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Failure = Mechanical or Electrical Cause.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Build news feature to predict future, reading the sensor behavior from past (15 min before) &amp; present.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Predictors features: mean15, std15, slope15 and current measure.</a:t>
            </a:r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81386E12-880E-4A87-9C58-72230817ED1D}"/>
              </a:ext>
            </a:extLst>
          </p:cNvPr>
          <p:cNvSpPr/>
          <p:nvPr/>
        </p:nvSpPr>
        <p:spPr>
          <a:xfrm>
            <a:off x="232756" y="216528"/>
            <a:ext cx="989213" cy="690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54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832A986-6D84-30FF-7E73-546F3A825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7954" y="1379090"/>
            <a:ext cx="6116086" cy="2414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488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earn Web Development, Data Analytics &amp; UX/UI Design | Ironhack">
            <a:extLst>
              <a:ext uri="{FF2B5EF4-FFF2-40B4-BE49-F238E27FC236}">
                <a16:creationId xmlns:a16="http://schemas.microsoft.com/office/drawing/2014/main" id="{5E01E9BE-6179-4E9B-AFDA-54077CD7E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5556" y="85897"/>
            <a:ext cx="867122" cy="937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91E00118-B49C-40D5-9A2B-B960249F409A}"/>
              </a:ext>
            </a:extLst>
          </p:cNvPr>
          <p:cNvSpPr/>
          <p:nvPr/>
        </p:nvSpPr>
        <p:spPr>
          <a:xfrm>
            <a:off x="1393766" y="1023326"/>
            <a:ext cx="9404465" cy="581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E858A2A-0C33-418C-849C-53BFDE89A632}"/>
              </a:ext>
            </a:extLst>
          </p:cNvPr>
          <p:cNvSpPr/>
          <p:nvPr/>
        </p:nvSpPr>
        <p:spPr>
          <a:xfrm>
            <a:off x="4493643" y="99996"/>
            <a:ext cx="3204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Modeling</a:t>
            </a:r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&amp; </a:t>
            </a:r>
            <a:r>
              <a:rPr lang="es-ES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Results</a:t>
            </a:r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81386E12-880E-4A87-9C58-72230817ED1D}"/>
              </a:ext>
            </a:extLst>
          </p:cNvPr>
          <p:cNvSpPr/>
          <p:nvPr/>
        </p:nvSpPr>
        <p:spPr>
          <a:xfrm>
            <a:off x="232756" y="216528"/>
            <a:ext cx="989213" cy="690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54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1B14448-2732-066A-4BB4-225F8ABE103F}"/>
              </a:ext>
            </a:extLst>
          </p:cNvPr>
          <p:cNvSpPr txBox="1"/>
          <p:nvPr/>
        </p:nvSpPr>
        <p:spPr>
          <a:xfrm>
            <a:off x="1844900" y="2011583"/>
            <a:ext cx="8502192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AutoNum type="arabicPeriod"/>
            </a:pPr>
            <a:r>
              <a:rPr lang="en-US" dirty="0"/>
              <a:t>Random Forest and </a:t>
            </a:r>
            <a:r>
              <a:rPr lang="en-US" dirty="0" err="1"/>
              <a:t>XGBoost</a:t>
            </a:r>
            <a:r>
              <a:rPr lang="en-US" dirty="0"/>
              <a:t> are the models selected.</a:t>
            </a:r>
          </a:p>
          <a:p>
            <a:pPr marL="742950" lvl="1" indent="-285750">
              <a:buAutoNum type="arabicPeriod"/>
            </a:pPr>
            <a:r>
              <a:rPr lang="en-US" dirty="0"/>
              <a:t>Best options regarding present features.</a:t>
            </a:r>
          </a:p>
          <a:p>
            <a:pPr marL="742950" lvl="1" indent="-285750">
              <a:buAutoNum type="arabicPeriod"/>
            </a:pPr>
            <a:r>
              <a:rPr lang="en-US" dirty="0"/>
              <a:t>Features has different ranges measures, RF and XGB don’t need Normalization.</a:t>
            </a:r>
          </a:p>
          <a:p>
            <a:pPr marL="742950" lvl="1" indent="-285750">
              <a:buAutoNum type="arabicPeriod"/>
            </a:pPr>
            <a:r>
              <a:rPr lang="en-US" dirty="0"/>
              <a:t>RF and XGB works well with unbalanced classes.</a:t>
            </a:r>
          </a:p>
          <a:p>
            <a:pPr marL="742950" lvl="1" indent="-285750">
              <a:buAutoNum type="arabicPeriod"/>
            </a:pPr>
            <a:r>
              <a:rPr lang="en-US" dirty="0"/>
              <a:t>RF and XGB are fast models to train.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08C85EE-F8D7-88EB-4F99-BB55DCDDCB8E}"/>
              </a:ext>
            </a:extLst>
          </p:cNvPr>
          <p:cNvSpPr txBox="1"/>
          <p:nvPr/>
        </p:nvSpPr>
        <p:spPr>
          <a:xfrm>
            <a:off x="1651458" y="1124832"/>
            <a:ext cx="888907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dirty="0">
                <a:highlight>
                  <a:srgbClr val="000000"/>
                </a:highlight>
              </a:rPr>
              <a:t>Random Forest vs </a:t>
            </a:r>
            <a:r>
              <a:rPr lang="en-US" dirty="0" err="1">
                <a:highlight>
                  <a:srgbClr val="000000"/>
                </a:highlight>
              </a:rPr>
              <a:t>XGBoost</a:t>
            </a:r>
            <a:endParaRPr lang="es-ES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733A126-2BE5-98D9-74A0-D62D790477EE}"/>
              </a:ext>
            </a:extLst>
          </p:cNvPr>
          <p:cNvSpPr txBox="1"/>
          <p:nvPr/>
        </p:nvSpPr>
        <p:spPr>
          <a:xfrm>
            <a:off x="1844900" y="4168590"/>
            <a:ext cx="8502192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US" dirty="0"/>
              <a:t>Data </a:t>
            </a:r>
            <a:r>
              <a:rPr lang="en-US" dirty="0" err="1"/>
              <a:t>splitted</a:t>
            </a:r>
            <a:r>
              <a:rPr lang="en-US" dirty="0"/>
              <a:t> in 80% Train, 20% Test.</a:t>
            </a:r>
          </a:p>
          <a:p>
            <a:pPr marL="742950" lvl="1" indent="-285750">
              <a:buAutoNum type="arabicPeriod"/>
            </a:pPr>
            <a:r>
              <a:rPr lang="en-US" dirty="0"/>
              <a:t>20% will be used to validate model and for the “Simulation prediction”</a:t>
            </a:r>
          </a:p>
        </p:txBody>
      </p:sp>
    </p:spTree>
    <p:extLst>
      <p:ext uri="{BB962C8B-B14F-4D97-AF65-F5344CB8AC3E}">
        <p14:creationId xmlns:p14="http://schemas.microsoft.com/office/powerpoint/2010/main" val="3900312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earn Web Development, Data Analytics &amp; UX/UI Design | Ironhack">
            <a:extLst>
              <a:ext uri="{FF2B5EF4-FFF2-40B4-BE49-F238E27FC236}">
                <a16:creationId xmlns:a16="http://schemas.microsoft.com/office/drawing/2014/main" id="{5E01E9BE-6179-4E9B-AFDA-54077CD7E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5556" y="85897"/>
            <a:ext cx="867122" cy="937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91E00118-B49C-40D5-9A2B-B960249F409A}"/>
              </a:ext>
            </a:extLst>
          </p:cNvPr>
          <p:cNvSpPr/>
          <p:nvPr/>
        </p:nvSpPr>
        <p:spPr>
          <a:xfrm>
            <a:off x="1393766" y="1023326"/>
            <a:ext cx="9404465" cy="581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E858A2A-0C33-418C-849C-53BFDE89A632}"/>
              </a:ext>
            </a:extLst>
          </p:cNvPr>
          <p:cNvSpPr/>
          <p:nvPr/>
        </p:nvSpPr>
        <p:spPr>
          <a:xfrm>
            <a:off x="4493643" y="99996"/>
            <a:ext cx="3204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Modeling &amp; Results:</a:t>
            </a:r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81386E12-880E-4A87-9C58-72230817ED1D}"/>
              </a:ext>
            </a:extLst>
          </p:cNvPr>
          <p:cNvSpPr/>
          <p:nvPr/>
        </p:nvSpPr>
        <p:spPr>
          <a:xfrm>
            <a:off x="232756" y="216528"/>
            <a:ext cx="989213" cy="690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54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1B14448-2732-066A-4BB4-225F8ABE103F}"/>
              </a:ext>
            </a:extLst>
          </p:cNvPr>
          <p:cNvSpPr txBox="1"/>
          <p:nvPr/>
        </p:nvSpPr>
        <p:spPr>
          <a:xfrm>
            <a:off x="1844900" y="4985849"/>
            <a:ext cx="8502192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AutoNum type="arabicPeriod"/>
            </a:pPr>
            <a:r>
              <a:rPr lang="en-US" dirty="0"/>
              <a:t>Best model for ST chosen by Recall [Detect TP and FP]</a:t>
            </a:r>
            <a:br>
              <a:rPr lang="en-US" dirty="0"/>
            </a:br>
            <a:r>
              <a:rPr lang="en-US" dirty="0"/>
              <a:t>In Production Dept missed failure costs more than a false alarm.</a:t>
            </a:r>
          </a:p>
          <a:p>
            <a:pPr marL="285750" indent="-285750">
              <a:buAutoNum type="arabicPeriod"/>
            </a:pPr>
            <a:r>
              <a:rPr lang="en-US" dirty="0"/>
              <a:t>Fix Recall value (80-90%) for ST to focus in the Precision. </a:t>
            </a:r>
          </a:p>
          <a:p>
            <a:pPr marL="285750" indent="-285750">
              <a:buAutoNum type="arabicPeriod"/>
            </a:pPr>
            <a:r>
              <a:rPr lang="en-US" dirty="0"/>
              <a:t>Average Accuracy 94.1%, Average Precision 74.1%.</a:t>
            </a:r>
          </a:p>
          <a:p>
            <a:pPr marL="285750" indent="-285750">
              <a:buAutoNum type="arabicPeriod"/>
            </a:pPr>
            <a:r>
              <a:rPr lang="en-US" dirty="0"/>
              <a:t>Model Precision between 65-78%, that means 1 over 3 are False Positive alarm.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08C85EE-F8D7-88EB-4F99-BB55DCDDCB8E}"/>
              </a:ext>
            </a:extLst>
          </p:cNvPr>
          <p:cNvSpPr txBox="1"/>
          <p:nvPr/>
        </p:nvSpPr>
        <p:spPr>
          <a:xfrm>
            <a:off x="1651458" y="1124832"/>
            <a:ext cx="888907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dirty="0">
                <a:highlight>
                  <a:srgbClr val="000000"/>
                </a:highlight>
              </a:rPr>
              <a:t>Random Forest vs </a:t>
            </a:r>
            <a:r>
              <a:rPr lang="en-US" dirty="0" err="1">
                <a:highlight>
                  <a:srgbClr val="000000"/>
                </a:highlight>
              </a:rPr>
              <a:t>XGBoost</a:t>
            </a:r>
            <a:endParaRPr lang="es-ES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777AA15F-0313-DEAA-E8CA-1E6A6A5686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4"/>
          <a:stretch/>
        </p:blipFill>
        <p:spPr>
          <a:xfrm>
            <a:off x="1393766" y="1688759"/>
            <a:ext cx="4816257" cy="3163707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5387A62F-3352-9BBC-87C5-73C0D261D0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9376" y="1688758"/>
            <a:ext cx="3196948" cy="315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933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614D5C25-1FE9-CE0B-C796-25EF0A92C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9697" y="2126119"/>
            <a:ext cx="1600000" cy="1600000"/>
          </a:xfrm>
          <a:prstGeom prst="rect">
            <a:avLst/>
          </a:prstGeom>
        </p:spPr>
      </p:pic>
      <p:pic>
        <p:nvPicPr>
          <p:cNvPr id="1026" name="Picture 2" descr="Learn Web Development, Data Analytics &amp; UX/UI Design | Ironhack">
            <a:extLst>
              <a:ext uri="{FF2B5EF4-FFF2-40B4-BE49-F238E27FC236}">
                <a16:creationId xmlns:a16="http://schemas.microsoft.com/office/drawing/2014/main" id="{5E01E9BE-6179-4E9B-AFDA-54077CD7E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5556" y="85897"/>
            <a:ext cx="867122" cy="937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91E00118-B49C-40D5-9A2B-B960249F409A}"/>
              </a:ext>
            </a:extLst>
          </p:cNvPr>
          <p:cNvSpPr/>
          <p:nvPr/>
        </p:nvSpPr>
        <p:spPr>
          <a:xfrm>
            <a:off x="1393766" y="1023326"/>
            <a:ext cx="9404465" cy="581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E858A2A-0C33-418C-849C-53BFDE89A632}"/>
              </a:ext>
            </a:extLst>
          </p:cNvPr>
          <p:cNvSpPr/>
          <p:nvPr/>
        </p:nvSpPr>
        <p:spPr>
          <a:xfrm>
            <a:off x="1511545" y="99996"/>
            <a:ext cx="916892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GenAI &amp; Dashboard:</a:t>
            </a:r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81386E12-880E-4A87-9C58-72230817ED1D}"/>
              </a:ext>
            </a:extLst>
          </p:cNvPr>
          <p:cNvSpPr/>
          <p:nvPr/>
        </p:nvSpPr>
        <p:spPr>
          <a:xfrm>
            <a:off x="232756" y="216528"/>
            <a:ext cx="989213" cy="690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4227589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earn Web Development, Data Analytics &amp; UX/UI Design | Ironhack">
            <a:extLst>
              <a:ext uri="{FF2B5EF4-FFF2-40B4-BE49-F238E27FC236}">
                <a16:creationId xmlns:a16="http://schemas.microsoft.com/office/drawing/2014/main" id="{5E01E9BE-6179-4E9B-AFDA-54077CD7E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5556" y="85897"/>
            <a:ext cx="867122" cy="937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91E00118-B49C-40D5-9A2B-B960249F409A}"/>
              </a:ext>
            </a:extLst>
          </p:cNvPr>
          <p:cNvSpPr/>
          <p:nvPr/>
        </p:nvSpPr>
        <p:spPr>
          <a:xfrm>
            <a:off x="1393766" y="1023326"/>
            <a:ext cx="9404465" cy="581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E858A2A-0C33-418C-849C-53BFDE89A632}"/>
              </a:ext>
            </a:extLst>
          </p:cNvPr>
          <p:cNvSpPr/>
          <p:nvPr/>
        </p:nvSpPr>
        <p:spPr>
          <a:xfrm>
            <a:off x="4401464" y="99996"/>
            <a:ext cx="338906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Conclusions</a:t>
            </a:r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81386E12-880E-4A87-9C58-72230817ED1D}"/>
              </a:ext>
            </a:extLst>
          </p:cNvPr>
          <p:cNvSpPr/>
          <p:nvPr/>
        </p:nvSpPr>
        <p:spPr>
          <a:xfrm>
            <a:off x="232756" y="216528"/>
            <a:ext cx="989213" cy="690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29332365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earn Web Development, Data Analytics &amp; UX/UI Design | Ironhack">
            <a:extLst>
              <a:ext uri="{FF2B5EF4-FFF2-40B4-BE49-F238E27FC236}">
                <a16:creationId xmlns:a16="http://schemas.microsoft.com/office/drawing/2014/main" id="{5E01E9BE-6179-4E9B-AFDA-54077CD7E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5556" y="85897"/>
            <a:ext cx="867122" cy="937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AEBF0EB4-F14C-4E33-9706-7C4CF19A30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9181" y="2275681"/>
            <a:ext cx="8791575" cy="2306637"/>
          </a:xfrm>
        </p:spPr>
        <p:txBody>
          <a:bodyPr/>
          <a:lstStyle/>
          <a:p>
            <a:pPr algn="ctr"/>
            <a:r>
              <a:rPr lang="es-ES" dirty="0" err="1"/>
              <a:t>Thank</a:t>
            </a:r>
            <a:r>
              <a:rPr lang="es-ES" dirty="0"/>
              <a:t> </a:t>
            </a:r>
            <a:r>
              <a:rPr lang="es-ES" dirty="0" err="1"/>
              <a:t>you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your</a:t>
            </a:r>
            <a:r>
              <a:rPr lang="es-ES" dirty="0"/>
              <a:t> </a:t>
            </a:r>
            <a:r>
              <a:rPr lang="es-ES" dirty="0" err="1"/>
              <a:t>attention</a:t>
            </a:r>
            <a:r>
              <a:rPr lang="es-ES" dirty="0"/>
              <a:t>.</a:t>
            </a:r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6341645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{A9023AA8-1BCB-48CD-A9FA-B95B0C368471}TF6d5feb1e-e145-43f1-b745-cb4b54c5ee97494f94d6-c317f2461df2</Template>
  <TotalTime>9633</TotalTime>
  <Words>467</Words>
  <Application>Microsoft Office PowerPoint</Application>
  <PresentationFormat>Panorámica</PresentationFormat>
  <Paragraphs>78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Cambria</vt:lpstr>
      <vt:lpstr>Tw Cen MT</vt:lpstr>
      <vt:lpstr>Circuito</vt:lpstr>
      <vt:lpstr>Factory Predictive Maintenance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Thank you for your attention.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Albert Olivella</dc:creator>
  <cp:lastModifiedBy>Albert Olivella</cp:lastModifiedBy>
  <cp:revision>256</cp:revision>
  <dcterms:created xsi:type="dcterms:W3CDTF">2026-06-22T20:14:51Z</dcterms:created>
  <dcterms:modified xsi:type="dcterms:W3CDTF">2026-09-10T12:49:39Z</dcterms:modified>
</cp:coreProperties>
</file>